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embeddedFontLst>
    <p:embeddedFont>
      <p:font typeface="Hedvig Letters Sans" charset="-122" pitchFamily="34"/>
      <p:regular r:id="rId13"/>
    </p:embeddedFont>
    <p:embeddedFont>
      <p:font typeface="Quattrocento Sans" charset="-122" pitchFamily="34"/>
      <p:regular r:id="rId14"/>
    </p:embeddedFont>
    <p:embeddedFont>
      <p:font typeface="Liter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asternengineeringgroup.com/b32485649d25d23c9f8efd220ab341d6e2aed3dd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" b="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535C">
                  <a:alpha val="95000"/>
                </a:srgbClr>
              </a:gs>
              <a:gs pos="50000">
                <a:srgbClr val="1A535C">
                  <a:alpha val="90000"/>
                </a:srgbClr>
              </a:gs>
              <a:gs pos="100000">
                <a:srgbClr val="4A7C59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5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438150"/>
            <a:ext cx="2819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JAN CONNECT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43000" y="819150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&amp; Accountability Engine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12456" y="1544955"/>
            <a:ext cx="3371850" cy="495300"/>
          </a:xfrm>
          <a:custGeom>
            <a:avLst/>
            <a:gdLst/>
            <a:ahLst/>
            <a:cxnLst/>
            <a:rect l="l" t="t" r="r" b="b"/>
            <a:pathLst>
              <a:path w="3371850" h="495300">
                <a:moveTo>
                  <a:pt x="247650" y="0"/>
                </a:moveTo>
                <a:lnTo>
                  <a:pt x="3124200" y="0"/>
                </a:lnTo>
                <a:cubicBezTo>
                  <a:pt x="3260882" y="0"/>
                  <a:pt x="3371850" y="110968"/>
                  <a:pt x="3371850" y="247650"/>
                </a:cubicBezTo>
                <a:lnTo>
                  <a:pt x="3371850" y="247650"/>
                </a:lnTo>
                <a:cubicBezTo>
                  <a:pt x="3371850" y="384332"/>
                  <a:pt x="3260882" y="495300"/>
                  <a:pt x="312420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8" name="Text 5"/>
          <p:cNvSpPr/>
          <p:nvPr/>
        </p:nvSpPr>
        <p:spPr>
          <a:xfrm>
            <a:off x="4593431" y="1682115"/>
            <a:ext cx="30051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38" kern="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VEGA HACKATHON 2026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93802" y="2573655"/>
            <a:ext cx="66008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Civic Engagement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 Technology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30485" y="4516755"/>
            <a:ext cx="6334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dual-portal platform empowering citizens and administrators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transparent, efficient civic issue resolution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810" y="5665470"/>
            <a:ext cx="2731770" cy="807720"/>
          </a:xfrm>
          <a:custGeom>
            <a:avLst/>
            <a:gdLst/>
            <a:ahLst/>
            <a:cxnLst/>
            <a:rect l="l" t="t" r="r" b="b"/>
            <a:pathLst>
              <a:path w="2731770" h="8077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31520"/>
                </a:lnTo>
                <a:cubicBezTo>
                  <a:pt x="2731770" y="773604"/>
                  <a:pt x="2697654" y="807720"/>
                  <a:pt x="26555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020" y="58216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 ID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1020" y="605028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WD-04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80410" y="5665470"/>
            <a:ext cx="2731770" cy="807720"/>
          </a:xfrm>
          <a:custGeom>
            <a:avLst/>
            <a:gdLst/>
            <a:ahLst/>
            <a:cxnLst/>
            <a:rect l="l" t="t" r="r" b="b"/>
            <a:pathLst>
              <a:path w="2731770" h="8077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31520"/>
                </a:lnTo>
                <a:cubicBezTo>
                  <a:pt x="2731770" y="773604"/>
                  <a:pt x="2697654" y="807720"/>
                  <a:pt x="26555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36620" y="58216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36620" y="605028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Civic Engagement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6010" y="5665470"/>
            <a:ext cx="2731770" cy="807720"/>
          </a:xfrm>
          <a:custGeom>
            <a:avLst/>
            <a:gdLst/>
            <a:ahLst/>
            <a:cxnLst/>
            <a:rect l="l" t="t" r="r" b="b"/>
            <a:pathLst>
              <a:path w="2731770" h="8077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31520"/>
                </a:lnTo>
                <a:cubicBezTo>
                  <a:pt x="2731770" y="773604"/>
                  <a:pt x="2697654" y="807720"/>
                  <a:pt x="26555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2220" y="58216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32220" y="605028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071610" y="5665470"/>
            <a:ext cx="2731770" cy="807720"/>
          </a:xfrm>
          <a:custGeom>
            <a:avLst/>
            <a:gdLst/>
            <a:ahLst/>
            <a:cxnLst/>
            <a:rect l="l" t="t" r="r" b="b"/>
            <a:pathLst>
              <a:path w="2731770" h="807720">
                <a:moveTo>
                  <a:pt x="76200" y="0"/>
                </a:moveTo>
                <a:lnTo>
                  <a:pt x="2655570" y="0"/>
                </a:lnTo>
                <a:cubicBezTo>
                  <a:pt x="2697654" y="0"/>
                  <a:pt x="2731770" y="34116"/>
                  <a:pt x="2731770" y="76200"/>
                </a:cubicBezTo>
                <a:lnTo>
                  <a:pt x="2731770" y="731520"/>
                </a:lnTo>
                <a:cubicBezTo>
                  <a:pt x="2731770" y="773604"/>
                  <a:pt x="2697654" y="807720"/>
                  <a:pt x="26555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27820" y="582168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Name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27820" y="605028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CodPhoenix</a:t>
            </a:r>
            <a:endParaRPr lang="en-US" sz="1600" dirty="0"/>
          </a:p>
        </p:txBody>
      </p:sp>
      <p:pic>
        <p:nvPicPr>
          <p:cNvPr id="23" name="Image 1" descr="https://kimi-img.moonshot.cn/pub/slides/26-02-20-20:10:31-d6c4udpdjjpngum6ja7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97" y="545473"/>
            <a:ext cx="447057" cy="44490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361950"/>
                </a:lnTo>
                <a:cubicBezTo>
                  <a:pt x="38100" y="372464"/>
                  <a:pt x="29564" y="381000"/>
                  <a:pt x="19050" y="381000"/>
                </a:cubicBezTo>
                <a:lnTo>
                  <a:pt x="19050" y="381000"/>
                </a:lnTo>
                <a:cubicBezTo>
                  <a:pt x="8536" y="381000"/>
                  <a:pt x="0" y="372464"/>
                  <a:pt x="0" y="3619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6829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Solution: JAN CONNECT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civic engagement ecosystem bridging citizens and administration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5619750" cy="4457700"/>
          </a:xfrm>
          <a:custGeom>
            <a:avLst/>
            <a:gdLst/>
            <a:ahLst/>
            <a:cxnLst/>
            <a:rect l="l" t="t" r="r" b="b"/>
            <a:pathLst>
              <a:path w="5619750" h="44577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4343405"/>
                </a:lnTo>
                <a:cubicBezTo>
                  <a:pt x="5619750" y="4406486"/>
                  <a:pt x="5568536" y="4457700"/>
                  <a:pt x="5505455" y="4457700"/>
                </a:cubicBezTo>
                <a:lnTo>
                  <a:pt x="38100" y="4457700"/>
                </a:lnTo>
                <a:cubicBezTo>
                  <a:pt x="17072" y="4457700"/>
                  <a:pt x="0" y="4440628"/>
                  <a:pt x="0" y="441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257300"/>
            <a:ext cx="38100" cy="4457700"/>
          </a:xfrm>
          <a:custGeom>
            <a:avLst/>
            <a:gdLst/>
            <a:ahLst/>
            <a:cxnLst/>
            <a:rect l="l" t="t" r="r" b="b"/>
            <a:pathLst>
              <a:path w="38100" h="4457700">
                <a:moveTo>
                  <a:pt x="38100" y="0"/>
                </a:moveTo>
                <a:lnTo>
                  <a:pt x="38100" y="0"/>
                </a:lnTo>
                <a:lnTo>
                  <a:pt x="38100" y="4457700"/>
                </a:lnTo>
                <a:lnTo>
                  <a:pt x="38100" y="4457700"/>
                </a:lnTo>
                <a:cubicBezTo>
                  <a:pt x="17072" y="4457700"/>
                  <a:pt x="0" y="4440628"/>
                  <a:pt x="0" y="441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3425" y="1600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15621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Citizen Portal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171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1" name="Shape 9"/>
          <p:cNvSpPr/>
          <p:nvPr/>
        </p:nvSpPr>
        <p:spPr>
          <a:xfrm>
            <a:off x="697706" y="2257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28700" y="21336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400300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overview of submitted complaints with status tracking and analytics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706" y="3133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2828" y="5652"/>
                </a:moveTo>
                <a:cubicBezTo>
                  <a:pt x="117124" y="-52"/>
                  <a:pt x="107904" y="-52"/>
                  <a:pt x="102200" y="5652"/>
                </a:cubicBezTo>
                <a:lnTo>
                  <a:pt x="95845" y="12007"/>
                </a:lnTo>
                <a:lnTo>
                  <a:pt x="121343" y="37505"/>
                </a:lnTo>
                <a:lnTo>
                  <a:pt x="127698" y="31150"/>
                </a:lnTo>
                <a:cubicBezTo>
                  <a:pt x="133402" y="25446"/>
                  <a:pt x="133402" y="16226"/>
                  <a:pt x="127698" y="10522"/>
                </a:cubicBezTo>
                <a:lnTo>
                  <a:pt x="122828" y="5652"/>
                </a:lnTo>
                <a:close/>
                <a:moveTo>
                  <a:pt x="44901" y="62951"/>
                </a:moveTo>
                <a:cubicBezTo>
                  <a:pt x="43313" y="64539"/>
                  <a:pt x="42089" y="66493"/>
                  <a:pt x="41385" y="68654"/>
                </a:cubicBezTo>
                <a:lnTo>
                  <a:pt x="33676" y="91782"/>
                </a:lnTo>
                <a:cubicBezTo>
                  <a:pt x="32921" y="94022"/>
                  <a:pt x="33520" y="96496"/>
                  <a:pt x="35187" y="98189"/>
                </a:cubicBezTo>
                <a:cubicBezTo>
                  <a:pt x="36854" y="99882"/>
                  <a:pt x="39328" y="100455"/>
                  <a:pt x="41594" y="99700"/>
                </a:cubicBezTo>
                <a:lnTo>
                  <a:pt x="64722" y="91991"/>
                </a:lnTo>
                <a:cubicBezTo>
                  <a:pt x="66857" y="91287"/>
                  <a:pt x="68811" y="90063"/>
                  <a:pt x="70425" y="88475"/>
                </a:cubicBezTo>
                <a:lnTo>
                  <a:pt x="112514" y="46334"/>
                </a:lnTo>
                <a:lnTo>
                  <a:pt x="87016" y="20836"/>
                </a:lnTo>
                <a:lnTo>
                  <a:pt x="44901" y="62951"/>
                </a:lnTo>
                <a:close/>
                <a:moveTo>
                  <a:pt x="25003" y="16669"/>
                </a:moveTo>
                <a:cubicBezTo>
                  <a:pt x="11199" y="16669"/>
                  <a:pt x="0" y="27868"/>
                  <a:pt x="0" y="41672"/>
                </a:cubicBezTo>
                <a:lnTo>
                  <a:pt x="0" y="108347"/>
                </a:lnTo>
                <a:cubicBezTo>
                  <a:pt x="0" y="122151"/>
                  <a:pt x="11199" y="133350"/>
                  <a:pt x="25003" y="133350"/>
                </a:cubicBezTo>
                <a:lnTo>
                  <a:pt x="91678" y="133350"/>
                </a:lnTo>
                <a:cubicBezTo>
                  <a:pt x="105482" y="133350"/>
                  <a:pt x="116681" y="122151"/>
                  <a:pt x="116681" y="108347"/>
                </a:cubicBezTo>
                <a:lnTo>
                  <a:pt x="116681" y="83344"/>
                </a:lnTo>
                <a:cubicBezTo>
                  <a:pt x="116681" y="78734"/>
                  <a:pt x="112957" y="75009"/>
                  <a:pt x="108347" y="75009"/>
                </a:cubicBezTo>
                <a:cubicBezTo>
                  <a:pt x="103737" y="75009"/>
                  <a:pt x="100013" y="78734"/>
                  <a:pt x="100013" y="83344"/>
                </a:cubicBezTo>
                <a:lnTo>
                  <a:pt x="100013" y="108347"/>
                </a:lnTo>
                <a:cubicBezTo>
                  <a:pt x="100013" y="112957"/>
                  <a:pt x="96288" y="116681"/>
                  <a:pt x="91678" y="116681"/>
                </a:cubicBezTo>
                <a:lnTo>
                  <a:pt x="25003" y="116681"/>
                </a:lnTo>
                <a:cubicBezTo>
                  <a:pt x="20393" y="116681"/>
                  <a:pt x="16669" y="112957"/>
                  <a:pt x="16669" y="108347"/>
                </a:cubicBezTo>
                <a:lnTo>
                  <a:pt x="16669" y="41672"/>
                </a:lnTo>
                <a:cubicBezTo>
                  <a:pt x="16669" y="37062"/>
                  <a:pt x="20393" y="33337"/>
                  <a:pt x="25003" y="33337"/>
                </a:cubicBezTo>
                <a:lnTo>
                  <a:pt x="50006" y="33337"/>
                </a:lnTo>
                <a:cubicBezTo>
                  <a:pt x="54616" y="33337"/>
                  <a:pt x="58341" y="29613"/>
                  <a:pt x="58341" y="25003"/>
                </a:cubicBezTo>
                <a:cubicBezTo>
                  <a:pt x="58341" y="20393"/>
                  <a:pt x="54616" y="16669"/>
                  <a:pt x="50006" y="16669"/>
                </a:cubicBezTo>
                <a:lnTo>
                  <a:pt x="25003" y="166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28700" y="30099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 Complaint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8700" y="3276600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GPS-based location selection, category classification, severity levels, image uploads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924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97706" y="4010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" y="38862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 Complaints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8700" y="4152900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complaint lifecycle: Submitted → In Review → Assigned → Resolved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60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3" name="Shape 21"/>
          <p:cNvSpPr/>
          <p:nvPr/>
        </p:nvSpPr>
        <p:spPr>
          <a:xfrm>
            <a:off x="697706" y="4886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" y="476250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Dashboard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8700" y="5029200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through city-wide analytics: resolution rates, risk indices, performance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0" y="1257300"/>
            <a:ext cx="5619750" cy="4457700"/>
          </a:xfrm>
          <a:custGeom>
            <a:avLst/>
            <a:gdLst/>
            <a:ahLst/>
            <a:cxnLst/>
            <a:rect l="l" t="t" r="r" b="b"/>
            <a:pathLst>
              <a:path w="5619750" h="44577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4343405"/>
                </a:lnTo>
                <a:cubicBezTo>
                  <a:pt x="5619750" y="4406486"/>
                  <a:pt x="5568536" y="4457700"/>
                  <a:pt x="5505455" y="4457700"/>
                </a:cubicBezTo>
                <a:lnTo>
                  <a:pt x="38100" y="4457700"/>
                </a:lnTo>
                <a:cubicBezTo>
                  <a:pt x="17072" y="4457700"/>
                  <a:pt x="0" y="4440628"/>
                  <a:pt x="0" y="441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1250" y="1257300"/>
            <a:ext cx="38100" cy="4457700"/>
          </a:xfrm>
          <a:custGeom>
            <a:avLst/>
            <a:gdLst/>
            <a:ahLst/>
            <a:cxnLst/>
            <a:rect l="l" t="t" r="r" b="b"/>
            <a:pathLst>
              <a:path w="38100" h="4457700">
                <a:moveTo>
                  <a:pt x="38100" y="0"/>
                </a:moveTo>
                <a:lnTo>
                  <a:pt x="38100" y="0"/>
                </a:lnTo>
                <a:lnTo>
                  <a:pt x="38100" y="4457700"/>
                </a:lnTo>
                <a:lnTo>
                  <a:pt x="38100" y="4457700"/>
                </a:lnTo>
                <a:cubicBezTo>
                  <a:pt x="17072" y="4457700"/>
                  <a:pt x="0" y="4440628"/>
                  <a:pt x="0" y="441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5320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0" name="Text 28"/>
          <p:cNvSpPr/>
          <p:nvPr/>
        </p:nvSpPr>
        <p:spPr>
          <a:xfrm>
            <a:off x="7048500" y="156210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Portal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0" y="22026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488906" y="22883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75009" y="25003"/>
                </a:move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ubicBezTo>
                  <a:pt x="71275" y="33337"/>
                  <a:pt x="75009" y="29603"/>
                  <a:pt x="75009" y="25003"/>
                </a:cubicBezTo>
                <a:close/>
                <a:moveTo>
                  <a:pt x="66675" y="108347"/>
                </a:moveTo>
                <a:cubicBezTo>
                  <a:pt x="75869" y="108347"/>
                  <a:pt x="83344" y="100872"/>
                  <a:pt x="83344" y="91678"/>
                </a:cubicBezTo>
                <a:cubicBezTo>
                  <a:pt x="83344" y="87459"/>
                  <a:pt x="81781" y="83578"/>
                  <a:pt x="79177" y="80661"/>
                </a:cubicBezTo>
                <a:lnTo>
                  <a:pt x="97278" y="44485"/>
                </a:lnTo>
                <a:cubicBezTo>
                  <a:pt x="98814" y="41385"/>
                  <a:pt x="97564" y="37635"/>
                  <a:pt x="94491" y="36098"/>
                </a:cubicBezTo>
                <a:cubicBezTo>
                  <a:pt x="91418" y="34562"/>
                  <a:pt x="87641" y="35812"/>
                  <a:pt x="86105" y="38885"/>
                </a:cubicBezTo>
                <a:lnTo>
                  <a:pt x="68003" y="75061"/>
                </a:lnTo>
                <a:cubicBezTo>
                  <a:pt x="67561" y="75035"/>
                  <a:pt x="67118" y="75009"/>
                  <a:pt x="66675" y="75009"/>
                </a:cubicBezTo>
                <a:cubicBezTo>
                  <a:pt x="57481" y="75009"/>
                  <a:pt x="50006" y="82484"/>
                  <a:pt x="50006" y="91678"/>
                </a:cubicBezTo>
                <a:cubicBezTo>
                  <a:pt x="50006" y="100872"/>
                  <a:pt x="57481" y="108347"/>
                  <a:pt x="66675" y="108347"/>
                </a:cubicBezTo>
                <a:close/>
                <a:moveTo>
                  <a:pt x="45839" y="37505"/>
                </a:moveTo>
                <a:cubicBezTo>
                  <a:pt x="45839" y="32905"/>
                  <a:pt x="42105" y="29170"/>
                  <a:pt x="37505" y="29170"/>
                </a:cubicBezTo>
                <a:cubicBezTo>
                  <a:pt x="32905" y="29170"/>
                  <a:pt x="29170" y="32905"/>
                  <a:pt x="29170" y="37505"/>
                </a:cubicBezTo>
                <a:cubicBezTo>
                  <a:pt x="29170" y="42105"/>
                  <a:pt x="32905" y="45839"/>
                  <a:pt x="37505" y="45839"/>
                </a:cubicBezTo>
                <a:cubicBezTo>
                  <a:pt x="42105" y="45839"/>
                  <a:pt x="45839" y="42105"/>
                  <a:pt x="45839" y="37505"/>
                </a:cubicBezTo>
                <a:close/>
                <a:moveTo>
                  <a:pt x="25003" y="75009"/>
                </a:moveTo>
                <a:cubicBezTo>
                  <a:pt x="29603" y="75009"/>
                  <a:pt x="33337" y="71275"/>
                  <a:pt x="33337" y="66675"/>
                </a:cubicBezTo>
                <a:cubicBezTo>
                  <a:pt x="33337" y="62075"/>
                  <a:pt x="29603" y="58341"/>
                  <a:pt x="25003" y="58341"/>
                </a:cubicBezTo>
                <a:cubicBezTo>
                  <a:pt x="20403" y="58341"/>
                  <a:pt x="16669" y="62075"/>
                  <a:pt x="16669" y="66675"/>
                </a:cubicBezTo>
                <a:cubicBezTo>
                  <a:pt x="16669" y="71275"/>
                  <a:pt x="20403" y="75009"/>
                  <a:pt x="25003" y="75009"/>
                </a:cubicBezTo>
                <a:close/>
                <a:moveTo>
                  <a:pt x="116681" y="66675"/>
                </a:moveTo>
                <a:cubicBezTo>
                  <a:pt x="116681" y="62075"/>
                  <a:pt x="112947" y="58341"/>
                  <a:pt x="108347" y="58341"/>
                </a:cubicBezTo>
                <a:cubicBezTo>
                  <a:pt x="103747" y="58341"/>
                  <a:pt x="100013" y="62075"/>
                  <a:pt x="100013" y="66675"/>
                </a:cubicBezTo>
                <a:cubicBezTo>
                  <a:pt x="100013" y="71275"/>
                  <a:pt x="103747" y="75009"/>
                  <a:pt x="108347" y="75009"/>
                </a:cubicBezTo>
                <a:cubicBezTo>
                  <a:pt x="112947" y="75009"/>
                  <a:pt x="116681" y="71275"/>
                  <a:pt x="116681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19900" y="2164556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9900" y="2431256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overview: total complaints, resolution rates, category distribution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31408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2238" y="3226594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50019" y="12502"/>
                </a:moveTo>
                <a:cubicBezTo>
                  <a:pt x="150019" y="9611"/>
                  <a:pt x="148534" y="6928"/>
                  <a:pt x="146060" y="5417"/>
                </a:cubicBezTo>
                <a:cubicBezTo>
                  <a:pt x="143586" y="3907"/>
                  <a:pt x="140538" y="3750"/>
                  <a:pt x="137960" y="5053"/>
                </a:cubicBezTo>
                <a:lnTo>
                  <a:pt x="107696" y="20185"/>
                </a:lnTo>
                <a:lnTo>
                  <a:pt x="60971" y="4584"/>
                </a:lnTo>
                <a:cubicBezTo>
                  <a:pt x="58862" y="3881"/>
                  <a:pt x="56596" y="4037"/>
                  <a:pt x="54616" y="5027"/>
                </a:cubicBezTo>
                <a:lnTo>
                  <a:pt x="21279" y="21695"/>
                </a:lnTo>
                <a:cubicBezTo>
                  <a:pt x="18440" y="23128"/>
                  <a:pt x="16669" y="26019"/>
                  <a:pt x="16669" y="29170"/>
                </a:cubicBezTo>
                <a:lnTo>
                  <a:pt x="16669" y="120848"/>
                </a:lnTo>
                <a:cubicBezTo>
                  <a:pt x="16669" y="123739"/>
                  <a:pt x="18153" y="126422"/>
                  <a:pt x="20628" y="127933"/>
                </a:cubicBezTo>
                <a:cubicBezTo>
                  <a:pt x="23102" y="129443"/>
                  <a:pt x="26149" y="129600"/>
                  <a:pt x="28728" y="128297"/>
                </a:cubicBezTo>
                <a:lnTo>
                  <a:pt x="58966" y="113165"/>
                </a:lnTo>
                <a:lnTo>
                  <a:pt x="104102" y="128219"/>
                </a:lnTo>
                <a:cubicBezTo>
                  <a:pt x="102982" y="126552"/>
                  <a:pt x="101888" y="124807"/>
                  <a:pt x="100820" y="123036"/>
                </a:cubicBezTo>
                <a:cubicBezTo>
                  <a:pt x="97955" y="118270"/>
                  <a:pt x="95116" y="112801"/>
                  <a:pt x="93006" y="106940"/>
                </a:cubicBezTo>
                <a:lnTo>
                  <a:pt x="66649" y="98163"/>
                </a:lnTo>
                <a:lnTo>
                  <a:pt x="66649" y="24066"/>
                </a:lnTo>
                <a:lnTo>
                  <a:pt x="99986" y="35187"/>
                </a:lnTo>
                <a:lnTo>
                  <a:pt x="99986" y="61049"/>
                </a:lnTo>
                <a:cubicBezTo>
                  <a:pt x="108060" y="51725"/>
                  <a:pt x="120041" y="45839"/>
                  <a:pt x="133324" y="45839"/>
                </a:cubicBezTo>
                <a:cubicBezTo>
                  <a:pt x="139210" y="45839"/>
                  <a:pt x="144836" y="46985"/>
                  <a:pt x="149993" y="49095"/>
                </a:cubicBezTo>
                <a:lnTo>
                  <a:pt x="150019" y="12502"/>
                </a:lnTo>
                <a:close/>
                <a:moveTo>
                  <a:pt x="133350" y="58341"/>
                </a:moveTo>
                <a:cubicBezTo>
                  <a:pt x="116082" y="58341"/>
                  <a:pt x="102096" y="72092"/>
                  <a:pt x="102096" y="89048"/>
                </a:cubicBezTo>
                <a:cubicBezTo>
                  <a:pt x="102096" y="106993"/>
                  <a:pt x="118791" y="128219"/>
                  <a:pt x="127776" y="138351"/>
                </a:cubicBezTo>
                <a:cubicBezTo>
                  <a:pt x="130798" y="141736"/>
                  <a:pt x="135928" y="141736"/>
                  <a:pt x="138950" y="138351"/>
                </a:cubicBezTo>
                <a:cubicBezTo>
                  <a:pt x="147935" y="128219"/>
                  <a:pt x="164630" y="106993"/>
                  <a:pt x="164630" y="89048"/>
                </a:cubicBezTo>
                <a:cubicBezTo>
                  <a:pt x="164630" y="72092"/>
                  <a:pt x="150644" y="58341"/>
                  <a:pt x="133376" y="58341"/>
                </a:cubicBezTo>
                <a:close/>
                <a:moveTo>
                  <a:pt x="122932" y="89595"/>
                </a:moveTo>
                <a:cubicBezTo>
                  <a:pt x="122932" y="83845"/>
                  <a:pt x="127600" y="79177"/>
                  <a:pt x="133350" y="79177"/>
                </a:cubicBezTo>
                <a:cubicBezTo>
                  <a:pt x="139100" y="79177"/>
                  <a:pt x="143768" y="83845"/>
                  <a:pt x="143768" y="89595"/>
                </a:cubicBezTo>
                <a:cubicBezTo>
                  <a:pt x="143768" y="95344"/>
                  <a:pt x="139100" y="100013"/>
                  <a:pt x="133350" y="100013"/>
                </a:cubicBezTo>
                <a:cubicBezTo>
                  <a:pt x="127600" y="100013"/>
                  <a:pt x="122932" y="95344"/>
                  <a:pt x="122932" y="895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19900" y="3102769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 View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19900" y="3369469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 complaint locations with severity-based markers and status filters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4079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0" name="Shape 38"/>
          <p:cNvSpPr/>
          <p:nvPr/>
        </p:nvSpPr>
        <p:spPr>
          <a:xfrm>
            <a:off x="6480572" y="416480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3454" y="62508"/>
                </a:moveTo>
                <a:lnTo>
                  <a:pt x="87615" y="62508"/>
                </a:lnTo>
                <a:cubicBezTo>
                  <a:pt x="83005" y="62508"/>
                  <a:pt x="79281" y="58783"/>
                  <a:pt x="79281" y="54173"/>
                </a:cubicBezTo>
                <a:lnTo>
                  <a:pt x="79281" y="8334"/>
                </a:lnTo>
                <a:cubicBezTo>
                  <a:pt x="79281" y="3724"/>
                  <a:pt x="83031" y="-52"/>
                  <a:pt x="87589" y="547"/>
                </a:cubicBezTo>
                <a:cubicBezTo>
                  <a:pt x="115457" y="4245"/>
                  <a:pt x="137543" y="26331"/>
                  <a:pt x="141242" y="54199"/>
                </a:cubicBezTo>
                <a:cubicBezTo>
                  <a:pt x="141841" y="58757"/>
                  <a:pt x="138064" y="62508"/>
                  <a:pt x="133454" y="62508"/>
                </a:cubicBezTo>
                <a:close/>
                <a:moveTo>
                  <a:pt x="57976" y="9689"/>
                </a:moveTo>
                <a:cubicBezTo>
                  <a:pt x="62690" y="8699"/>
                  <a:pt x="66779" y="12554"/>
                  <a:pt x="66779" y="17372"/>
                </a:cubicBezTo>
                <a:lnTo>
                  <a:pt x="66779" y="68759"/>
                </a:lnTo>
                <a:cubicBezTo>
                  <a:pt x="66779" y="70217"/>
                  <a:pt x="67300" y="71624"/>
                  <a:pt x="68212" y="72743"/>
                </a:cubicBezTo>
                <a:lnTo>
                  <a:pt x="102617" y="114259"/>
                </a:lnTo>
                <a:cubicBezTo>
                  <a:pt x="105664" y="117931"/>
                  <a:pt x="105013" y="123479"/>
                  <a:pt x="100820" y="125745"/>
                </a:cubicBezTo>
                <a:cubicBezTo>
                  <a:pt x="91939" y="130589"/>
                  <a:pt x="81755" y="133350"/>
                  <a:pt x="70946" y="133350"/>
                </a:cubicBezTo>
                <a:cubicBezTo>
                  <a:pt x="36437" y="133350"/>
                  <a:pt x="8439" y="105352"/>
                  <a:pt x="8439" y="70842"/>
                </a:cubicBezTo>
                <a:cubicBezTo>
                  <a:pt x="8439" y="40760"/>
                  <a:pt x="29665" y="15653"/>
                  <a:pt x="57976" y="9689"/>
                </a:cubicBezTo>
                <a:close/>
                <a:moveTo>
                  <a:pt x="124443" y="75009"/>
                </a:moveTo>
                <a:lnTo>
                  <a:pt x="141111" y="75009"/>
                </a:lnTo>
                <a:cubicBezTo>
                  <a:pt x="145930" y="75009"/>
                  <a:pt x="149784" y="79098"/>
                  <a:pt x="148795" y="83813"/>
                </a:cubicBezTo>
                <a:cubicBezTo>
                  <a:pt x="146138" y="96418"/>
                  <a:pt x="139679" y="107618"/>
                  <a:pt x="130667" y="116160"/>
                </a:cubicBezTo>
                <a:cubicBezTo>
                  <a:pt x="127464" y="119208"/>
                  <a:pt x="122437" y="118556"/>
                  <a:pt x="119624" y="115145"/>
                </a:cubicBezTo>
                <a:lnTo>
                  <a:pt x="97642" y="88657"/>
                </a:lnTo>
                <a:cubicBezTo>
                  <a:pt x="93137" y="83214"/>
                  <a:pt x="97017" y="75009"/>
                  <a:pt x="104049" y="75009"/>
                </a:cubicBezTo>
                <a:lnTo>
                  <a:pt x="124417" y="750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19900" y="4040981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19900" y="4307681"/>
            <a:ext cx="4876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Civic Risk Index, department performance metrics, SLA breach monitoring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0800" y="50172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4" name="Shape 42"/>
          <p:cNvSpPr/>
          <p:nvPr/>
        </p:nvSpPr>
        <p:spPr>
          <a:xfrm>
            <a:off x="6488906" y="510301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19900" y="4979194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Complaint Management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9900" y="5245894"/>
            <a:ext cx="466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updates, filtering by severity/category, detailed complaint view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586740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1A535C"/>
              </a:gs>
              <a:gs pos="100000">
                <a:srgbClr val="4A7C59"/>
              </a:gs>
            </a:gsLst>
            <a:lin ang="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607219" y="61436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2988" y="6019800"/>
            <a:ext cx="569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42988" y="6324600"/>
            <a:ext cx="568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synchronization • Role-based access control • Data-driven decision making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05882" y="6019800"/>
            <a:ext cx="1038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7B5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43982" y="63627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Rate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29236" y="6019800"/>
            <a:ext cx="121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7B5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67336" y="63627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Satisfaction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438209" y="6019800"/>
            <a:ext cx="129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7B5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76309" y="63627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Score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10" y="339610"/>
            <a:ext cx="33961" cy="339610"/>
          </a:xfrm>
          <a:custGeom>
            <a:avLst/>
            <a:gdLst/>
            <a:ahLst/>
            <a:cxnLst/>
            <a:rect l="l" t="t" r="r" b="b"/>
            <a:pathLst>
              <a:path w="33961" h="339610">
                <a:moveTo>
                  <a:pt x="16981" y="0"/>
                </a:moveTo>
                <a:lnTo>
                  <a:pt x="16981" y="0"/>
                </a:lnTo>
                <a:cubicBezTo>
                  <a:pt x="26359" y="0"/>
                  <a:pt x="33961" y="7602"/>
                  <a:pt x="33961" y="16981"/>
                </a:cubicBezTo>
                <a:lnTo>
                  <a:pt x="33961" y="322630"/>
                </a:lnTo>
                <a:cubicBezTo>
                  <a:pt x="33961" y="332008"/>
                  <a:pt x="26359" y="339610"/>
                  <a:pt x="16981" y="339610"/>
                </a:cubicBezTo>
                <a:lnTo>
                  <a:pt x="16981" y="339610"/>
                </a:lnTo>
                <a:cubicBezTo>
                  <a:pt x="7602" y="339610"/>
                  <a:pt x="0" y="332008"/>
                  <a:pt x="0" y="322630"/>
                </a:cubicBezTo>
                <a:lnTo>
                  <a:pt x="0" y="16981"/>
                </a:lnTo>
                <a:cubicBezTo>
                  <a:pt x="0" y="7602"/>
                  <a:pt x="7602" y="0"/>
                  <a:pt x="1698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" name="Text 1"/>
          <p:cNvSpPr/>
          <p:nvPr/>
        </p:nvSpPr>
        <p:spPr>
          <a:xfrm>
            <a:off x="475454" y="339610"/>
            <a:ext cx="486491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Approach &amp;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54" y="747142"/>
            <a:ext cx="1145334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scalable, cloud-native technology stack for real-time civic engagement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9610" y="1069772"/>
            <a:ext cx="4542284" cy="1545226"/>
          </a:xfrm>
          <a:custGeom>
            <a:avLst/>
            <a:gdLst/>
            <a:ahLst/>
            <a:cxnLst/>
            <a:rect l="l" t="t" r="r" b="b"/>
            <a:pathLst>
              <a:path w="4542284" h="1545226">
                <a:moveTo>
                  <a:pt x="33961" y="0"/>
                </a:moveTo>
                <a:lnTo>
                  <a:pt x="4508323" y="0"/>
                </a:lnTo>
                <a:cubicBezTo>
                  <a:pt x="4527079" y="0"/>
                  <a:pt x="4542284" y="15205"/>
                  <a:pt x="4542284" y="33961"/>
                </a:cubicBezTo>
                <a:lnTo>
                  <a:pt x="4542284" y="1443349"/>
                </a:lnTo>
                <a:cubicBezTo>
                  <a:pt x="4542284" y="1499614"/>
                  <a:pt x="4496672" y="1545226"/>
                  <a:pt x="4440407" y="1545226"/>
                </a:cubicBezTo>
                <a:lnTo>
                  <a:pt x="101877" y="1545226"/>
                </a:lnTo>
                <a:cubicBezTo>
                  <a:pt x="45612" y="1545226"/>
                  <a:pt x="0" y="1499614"/>
                  <a:pt x="0" y="144334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7354" dist="84903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9610" y="1069772"/>
            <a:ext cx="4542284" cy="33961"/>
          </a:xfrm>
          <a:custGeom>
            <a:avLst/>
            <a:gdLst/>
            <a:ahLst/>
            <a:cxnLst/>
            <a:rect l="l" t="t" r="r" b="b"/>
            <a:pathLst>
              <a:path w="4542284" h="33961">
                <a:moveTo>
                  <a:pt x="33961" y="0"/>
                </a:moveTo>
                <a:lnTo>
                  <a:pt x="4508323" y="0"/>
                </a:lnTo>
                <a:cubicBezTo>
                  <a:pt x="4527079" y="0"/>
                  <a:pt x="4542284" y="15205"/>
                  <a:pt x="4542284" y="33961"/>
                </a:cubicBezTo>
                <a:lnTo>
                  <a:pt x="4542284" y="33961"/>
                </a:lnTo>
                <a:lnTo>
                  <a:pt x="0" y="33961"/>
                </a:ln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7" name="Shape 5"/>
          <p:cNvSpPr/>
          <p:nvPr/>
        </p:nvSpPr>
        <p:spPr>
          <a:xfrm>
            <a:off x="475454" y="1222596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3705" y="1341460"/>
            <a:ext cx="191031" cy="169805"/>
          </a:xfrm>
          <a:custGeom>
            <a:avLst/>
            <a:gdLst/>
            <a:ahLst/>
            <a:cxnLst/>
            <a:rect l="l" t="t" r="r" b="b"/>
            <a:pathLst>
              <a:path w="191031" h="169805">
                <a:moveTo>
                  <a:pt x="119659" y="398"/>
                </a:moveTo>
                <a:cubicBezTo>
                  <a:pt x="114021" y="-1227"/>
                  <a:pt x="108151" y="2056"/>
                  <a:pt x="106526" y="7694"/>
                </a:cubicBezTo>
                <a:lnTo>
                  <a:pt x="64075" y="156274"/>
                </a:lnTo>
                <a:cubicBezTo>
                  <a:pt x="62450" y="161912"/>
                  <a:pt x="65733" y="167782"/>
                  <a:pt x="71371" y="169407"/>
                </a:cubicBezTo>
                <a:cubicBezTo>
                  <a:pt x="77009" y="171032"/>
                  <a:pt x="82879" y="167749"/>
                  <a:pt x="84505" y="162111"/>
                </a:cubicBezTo>
                <a:lnTo>
                  <a:pt x="126956" y="13531"/>
                </a:lnTo>
                <a:cubicBezTo>
                  <a:pt x="128581" y="7893"/>
                  <a:pt x="125298" y="2023"/>
                  <a:pt x="119659" y="398"/>
                </a:cubicBezTo>
                <a:close/>
                <a:moveTo>
                  <a:pt x="141084" y="45536"/>
                </a:moveTo>
                <a:cubicBezTo>
                  <a:pt x="136938" y="49681"/>
                  <a:pt x="136938" y="56414"/>
                  <a:pt x="141084" y="60559"/>
                </a:cubicBezTo>
                <a:lnTo>
                  <a:pt x="165427" y="84903"/>
                </a:lnTo>
                <a:lnTo>
                  <a:pt x="141084" y="109246"/>
                </a:lnTo>
                <a:cubicBezTo>
                  <a:pt x="136938" y="113391"/>
                  <a:pt x="136938" y="120124"/>
                  <a:pt x="141084" y="124269"/>
                </a:cubicBezTo>
                <a:cubicBezTo>
                  <a:pt x="145230" y="128415"/>
                  <a:pt x="151962" y="128415"/>
                  <a:pt x="156108" y="124269"/>
                </a:cubicBezTo>
                <a:lnTo>
                  <a:pt x="187946" y="92431"/>
                </a:lnTo>
                <a:cubicBezTo>
                  <a:pt x="192092" y="88285"/>
                  <a:pt x="192092" y="81553"/>
                  <a:pt x="187946" y="77407"/>
                </a:cubicBezTo>
                <a:lnTo>
                  <a:pt x="156108" y="45569"/>
                </a:lnTo>
                <a:cubicBezTo>
                  <a:pt x="151962" y="41423"/>
                  <a:pt x="145230" y="41423"/>
                  <a:pt x="141084" y="45569"/>
                </a:cubicBezTo>
                <a:close/>
                <a:moveTo>
                  <a:pt x="49980" y="45536"/>
                </a:moveTo>
                <a:cubicBezTo>
                  <a:pt x="45834" y="41390"/>
                  <a:pt x="39102" y="41390"/>
                  <a:pt x="34956" y="45536"/>
                </a:cubicBezTo>
                <a:lnTo>
                  <a:pt x="3118" y="77374"/>
                </a:lnTo>
                <a:cubicBezTo>
                  <a:pt x="-1028" y="81520"/>
                  <a:pt x="-1028" y="88252"/>
                  <a:pt x="3118" y="92398"/>
                </a:cubicBezTo>
                <a:lnTo>
                  <a:pt x="34956" y="124236"/>
                </a:lnTo>
                <a:cubicBezTo>
                  <a:pt x="39102" y="128382"/>
                  <a:pt x="45834" y="128382"/>
                  <a:pt x="49980" y="124236"/>
                </a:cubicBezTo>
                <a:cubicBezTo>
                  <a:pt x="54125" y="120091"/>
                  <a:pt x="54125" y="113358"/>
                  <a:pt x="49980" y="109212"/>
                </a:cubicBezTo>
                <a:lnTo>
                  <a:pt x="25637" y="84903"/>
                </a:lnTo>
                <a:lnTo>
                  <a:pt x="49947" y="60559"/>
                </a:lnTo>
                <a:cubicBezTo>
                  <a:pt x="54092" y="56414"/>
                  <a:pt x="54092" y="49681"/>
                  <a:pt x="49947" y="45536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9" name="Text 7"/>
          <p:cNvSpPr/>
          <p:nvPr/>
        </p:nvSpPr>
        <p:spPr>
          <a:xfrm>
            <a:off x="984869" y="1307499"/>
            <a:ext cx="1222596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Stack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54" y="1799933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1" name="Text 9"/>
          <p:cNvSpPr/>
          <p:nvPr/>
        </p:nvSpPr>
        <p:spPr>
          <a:xfrm>
            <a:off x="611298" y="1732011"/>
            <a:ext cx="192728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Component-based UI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54" y="2071621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3" name="Text 11"/>
          <p:cNvSpPr/>
          <p:nvPr/>
        </p:nvSpPr>
        <p:spPr>
          <a:xfrm>
            <a:off x="611298" y="2003699"/>
            <a:ext cx="205464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Responsive design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54" y="2343309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5" name="Text 13"/>
          <p:cNvSpPr/>
          <p:nvPr/>
        </p:nvSpPr>
        <p:spPr>
          <a:xfrm>
            <a:off x="611298" y="2275387"/>
            <a:ext cx="168956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Leaflet.js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Interactive maps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9610" y="2733861"/>
            <a:ext cx="4542284" cy="1545226"/>
          </a:xfrm>
          <a:custGeom>
            <a:avLst/>
            <a:gdLst/>
            <a:ahLst/>
            <a:cxnLst/>
            <a:rect l="l" t="t" r="r" b="b"/>
            <a:pathLst>
              <a:path w="4542284" h="1545226">
                <a:moveTo>
                  <a:pt x="33961" y="0"/>
                </a:moveTo>
                <a:lnTo>
                  <a:pt x="4508323" y="0"/>
                </a:lnTo>
                <a:cubicBezTo>
                  <a:pt x="4527079" y="0"/>
                  <a:pt x="4542284" y="15205"/>
                  <a:pt x="4542284" y="33961"/>
                </a:cubicBezTo>
                <a:lnTo>
                  <a:pt x="4542284" y="1443349"/>
                </a:lnTo>
                <a:cubicBezTo>
                  <a:pt x="4542284" y="1499614"/>
                  <a:pt x="4496672" y="1545226"/>
                  <a:pt x="4440407" y="1545226"/>
                </a:cubicBezTo>
                <a:lnTo>
                  <a:pt x="101877" y="1545226"/>
                </a:lnTo>
                <a:cubicBezTo>
                  <a:pt x="45612" y="1545226"/>
                  <a:pt x="0" y="1499614"/>
                  <a:pt x="0" y="144334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7354" dist="84903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9610" y="2733861"/>
            <a:ext cx="4542284" cy="33961"/>
          </a:xfrm>
          <a:custGeom>
            <a:avLst/>
            <a:gdLst/>
            <a:ahLst/>
            <a:cxnLst/>
            <a:rect l="l" t="t" r="r" b="b"/>
            <a:pathLst>
              <a:path w="4542284" h="33961">
                <a:moveTo>
                  <a:pt x="33961" y="0"/>
                </a:moveTo>
                <a:lnTo>
                  <a:pt x="4508323" y="0"/>
                </a:lnTo>
                <a:cubicBezTo>
                  <a:pt x="4527079" y="0"/>
                  <a:pt x="4542284" y="15205"/>
                  <a:pt x="4542284" y="33961"/>
                </a:cubicBezTo>
                <a:lnTo>
                  <a:pt x="4542284" y="33961"/>
                </a:lnTo>
                <a:lnTo>
                  <a:pt x="0" y="33961"/>
                </a:ln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54" y="288668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4930" y="3005549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>
                <a:moveTo>
                  <a:pt x="21226" y="10613"/>
                </a:moveTo>
                <a:cubicBezTo>
                  <a:pt x="9518" y="10613"/>
                  <a:pt x="0" y="20131"/>
                  <a:pt x="0" y="31838"/>
                </a:cubicBezTo>
                <a:lnTo>
                  <a:pt x="0" y="53064"/>
                </a:lnTo>
                <a:cubicBezTo>
                  <a:pt x="0" y="64771"/>
                  <a:pt x="9518" y="74290"/>
                  <a:pt x="21226" y="74290"/>
                </a:cubicBezTo>
                <a:lnTo>
                  <a:pt x="127354" y="74290"/>
                </a:lnTo>
                <a:cubicBezTo>
                  <a:pt x="139061" y="74290"/>
                  <a:pt x="148579" y="64771"/>
                  <a:pt x="148579" y="53064"/>
                </a:cubicBezTo>
                <a:lnTo>
                  <a:pt x="148579" y="31838"/>
                </a:lnTo>
                <a:cubicBezTo>
                  <a:pt x="148579" y="20131"/>
                  <a:pt x="139061" y="10613"/>
                  <a:pt x="127354" y="10613"/>
                </a:cubicBezTo>
                <a:lnTo>
                  <a:pt x="21226" y="10613"/>
                </a:lnTo>
                <a:close/>
                <a:moveTo>
                  <a:pt x="92862" y="34492"/>
                </a:moveTo>
                <a:cubicBezTo>
                  <a:pt x="97255" y="34492"/>
                  <a:pt x="100822" y="38058"/>
                  <a:pt x="100822" y="42451"/>
                </a:cubicBezTo>
                <a:cubicBezTo>
                  <a:pt x="100822" y="46844"/>
                  <a:pt x="97255" y="50411"/>
                  <a:pt x="92862" y="50411"/>
                </a:cubicBezTo>
                <a:cubicBezTo>
                  <a:pt x="88469" y="50411"/>
                  <a:pt x="84903" y="46844"/>
                  <a:pt x="84903" y="42451"/>
                </a:cubicBezTo>
                <a:cubicBezTo>
                  <a:pt x="84903" y="38058"/>
                  <a:pt x="88469" y="34492"/>
                  <a:pt x="92862" y="34492"/>
                </a:cubicBezTo>
                <a:close/>
                <a:moveTo>
                  <a:pt x="111435" y="42451"/>
                </a:moveTo>
                <a:cubicBezTo>
                  <a:pt x="111435" y="38058"/>
                  <a:pt x="115001" y="34492"/>
                  <a:pt x="119394" y="34492"/>
                </a:cubicBezTo>
                <a:cubicBezTo>
                  <a:pt x="123787" y="34492"/>
                  <a:pt x="127354" y="38058"/>
                  <a:pt x="127354" y="42451"/>
                </a:cubicBezTo>
                <a:cubicBezTo>
                  <a:pt x="127354" y="46844"/>
                  <a:pt x="123787" y="50411"/>
                  <a:pt x="119394" y="50411"/>
                </a:cubicBezTo>
                <a:cubicBezTo>
                  <a:pt x="115001" y="50411"/>
                  <a:pt x="111435" y="46844"/>
                  <a:pt x="111435" y="42451"/>
                </a:cubicBezTo>
                <a:close/>
                <a:moveTo>
                  <a:pt x="21226" y="95515"/>
                </a:moveTo>
                <a:cubicBezTo>
                  <a:pt x="9518" y="95515"/>
                  <a:pt x="0" y="105034"/>
                  <a:pt x="0" y="116741"/>
                </a:cubicBezTo>
                <a:lnTo>
                  <a:pt x="0" y="137967"/>
                </a:lnTo>
                <a:cubicBezTo>
                  <a:pt x="0" y="149674"/>
                  <a:pt x="9518" y="159192"/>
                  <a:pt x="21226" y="159192"/>
                </a:cubicBezTo>
                <a:lnTo>
                  <a:pt x="127354" y="159192"/>
                </a:lnTo>
                <a:cubicBezTo>
                  <a:pt x="139061" y="159192"/>
                  <a:pt x="148579" y="149674"/>
                  <a:pt x="148579" y="137967"/>
                </a:cubicBezTo>
                <a:lnTo>
                  <a:pt x="148579" y="116741"/>
                </a:lnTo>
                <a:cubicBezTo>
                  <a:pt x="148579" y="105034"/>
                  <a:pt x="139061" y="95515"/>
                  <a:pt x="127354" y="95515"/>
                </a:cubicBezTo>
                <a:lnTo>
                  <a:pt x="21226" y="95515"/>
                </a:lnTo>
                <a:close/>
                <a:moveTo>
                  <a:pt x="92862" y="119394"/>
                </a:moveTo>
                <a:cubicBezTo>
                  <a:pt x="97255" y="119394"/>
                  <a:pt x="100822" y="122961"/>
                  <a:pt x="100822" y="127354"/>
                </a:cubicBezTo>
                <a:cubicBezTo>
                  <a:pt x="100822" y="131747"/>
                  <a:pt x="97255" y="135313"/>
                  <a:pt x="92862" y="135313"/>
                </a:cubicBezTo>
                <a:cubicBezTo>
                  <a:pt x="88469" y="135313"/>
                  <a:pt x="84903" y="131747"/>
                  <a:pt x="84903" y="127354"/>
                </a:cubicBezTo>
                <a:cubicBezTo>
                  <a:pt x="84903" y="122961"/>
                  <a:pt x="88469" y="119394"/>
                  <a:pt x="92862" y="119394"/>
                </a:cubicBezTo>
                <a:close/>
                <a:moveTo>
                  <a:pt x="111435" y="127354"/>
                </a:moveTo>
                <a:cubicBezTo>
                  <a:pt x="111435" y="122961"/>
                  <a:pt x="115001" y="119394"/>
                  <a:pt x="119394" y="119394"/>
                </a:cubicBezTo>
                <a:cubicBezTo>
                  <a:pt x="123787" y="119394"/>
                  <a:pt x="127354" y="122961"/>
                  <a:pt x="127354" y="127354"/>
                </a:cubicBezTo>
                <a:cubicBezTo>
                  <a:pt x="127354" y="131747"/>
                  <a:pt x="123787" y="135313"/>
                  <a:pt x="119394" y="135313"/>
                </a:cubicBezTo>
                <a:cubicBezTo>
                  <a:pt x="115001" y="135313"/>
                  <a:pt x="111435" y="131747"/>
                  <a:pt x="111435" y="127354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984869" y="2971588"/>
            <a:ext cx="119712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Stack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54" y="3464022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2" name="Text 20"/>
          <p:cNvSpPr/>
          <p:nvPr/>
        </p:nvSpPr>
        <p:spPr>
          <a:xfrm>
            <a:off x="611298" y="3396100"/>
            <a:ext cx="183389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Firebase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Real-time database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54" y="3735710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4" name="Text 22"/>
          <p:cNvSpPr/>
          <p:nvPr/>
        </p:nvSpPr>
        <p:spPr>
          <a:xfrm>
            <a:off x="611298" y="3667788"/>
            <a:ext cx="188483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Firestore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NoSQL data storage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54" y="4007398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6" name="Text 24"/>
          <p:cNvSpPr/>
          <p:nvPr/>
        </p:nvSpPr>
        <p:spPr>
          <a:xfrm>
            <a:off x="611298" y="3939476"/>
            <a:ext cx="189332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Storage</a:t>
            </a:r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Image uploads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9610" y="4397950"/>
            <a:ext cx="4542284" cy="1545226"/>
          </a:xfrm>
          <a:custGeom>
            <a:avLst/>
            <a:gdLst/>
            <a:ahLst/>
            <a:cxnLst/>
            <a:rect l="l" t="t" r="r" b="b"/>
            <a:pathLst>
              <a:path w="4542284" h="1545226">
                <a:moveTo>
                  <a:pt x="33961" y="0"/>
                </a:moveTo>
                <a:lnTo>
                  <a:pt x="4508323" y="0"/>
                </a:lnTo>
                <a:cubicBezTo>
                  <a:pt x="4527079" y="0"/>
                  <a:pt x="4542284" y="15205"/>
                  <a:pt x="4542284" y="33961"/>
                </a:cubicBezTo>
                <a:lnTo>
                  <a:pt x="4542284" y="1443349"/>
                </a:lnTo>
                <a:cubicBezTo>
                  <a:pt x="4542284" y="1499614"/>
                  <a:pt x="4496672" y="1545226"/>
                  <a:pt x="4440407" y="1545226"/>
                </a:cubicBezTo>
                <a:lnTo>
                  <a:pt x="101877" y="1545226"/>
                </a:lnTo>
                <a:cubicBezTo>
                  <a:pt x="45612" y="1545226"/>
                  <a:pt x="0" y="1499614"/>
                  <a:pt x="0" y="1443349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7354" dist="84903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9610" y="4397950"/>
            <a:ext cx="4542284" cy="33961"/>
          </a:xfrm>
          <a:custGeom>
            <a:avLst/>
            <a:gdLst/>
            <a:ahLst/>
            <a:cxnLst/>
            <a:rect l="l" t="t" r="r" b="b"/>
            <a:pathLst>
              <a:path w="4542284" h="33961">
                <a:moveTo>
                  <a:pt x="33961" y="0"/>
                </a:moveTo>
                <a:lnTo>
                  <a:pt x="4508323" y="0"/>
                </a:lnTo>
                <a:cubicBezTo>
                  <a:pt x="4527079" y="0"/>
                  <a:pt x="4542284" y="15205"/>
                  <a:pt x="4542284" y="33961"/>
                </a:cubicBezTo>
                <a:lnTo>
                  <a:pt x="4542284" y="33961"/>
                </a:lnTo>
                <a:lnTo>
                  <a:pt x="0" y="33961"/>
                </a:ln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54" y="4550774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F7B538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5543" y="4669638"/>
            <a:ext cx="127354" cy="169805"/>
          </a:xfrm>
          <a:custGeom>
            <a:avLst/>
            <a:gdLst/>
            <a:ahLst/>
            <a:cxnLst/>
            <a:rect l="l" t="t" r="r" b="b"/>
            <a:pathLst>
              <a:path w="127354" h="169805">
                <a:moveTo>
                  <a:pt x="42451" y="31838"/>
                </a:moveTo>
                <a:lnTo>
                  <a:pt x="42451" y="53064"/>
                </a:lnTo>
                <a:lnTo>
                  <a:pt x="84903" y="53064"/>
                </a:lnTo>
                <a:lnTo>
                  <a:pt x="84903" y="31838"/>
                </a:lnTo>
                <a:cubicBezTo>
                  <a:pt x="84903" y="20131"/>
                  <a:pt x="75384" y="10613"/>
                  <a:pt x="63677" y="10613"/>
                </a:cubicBezTo>
                <a:cubicBezTo>
                  <a:pt x="51970" y="10613"/>
                  <a:pt x="42451" y="20131"/>
                  <a:pt x="42451" y="31838"/>
                </a:cubicBezTo>
                <a:close/>
                <a:moveTo>
                  <a:pt x="21226" y="53064"/>
                </a:moveTo>
                <a:lnTo>
                  <a:pt x="21226" y="31838"/>
                </a:lnTo>
                <a:cubicBezTo>
                  <a:pt x="21226" y="8391"/>
                  <a:pt x="40229" y="-10613"/>
                  <a:pt x="63677" y="-10613"/>
                </a:cubicBezTo>
                <a:cubicBezTo>
                  <a:pt x="87125" y="-10613"/>
                  <a:pt x="106128" y="8391"/>
                  <a:pt x="106128" y="31838"/>
                </a:cubicBezTo>
                <a:lnTo>
                  <a:pt x="106128" y="53064"/>
                </a:lnTo>
                <a:cubicBezTo>
                  <a:pt x="117835" y="53064"/>
                  <a:pt x="127354" y="62582"/>
                  <a:pt x="127354" y="74290"/>
                </a:cubicBezTo>
                <a:lnTo>
                  <a:pt x="127354" y="148579"/>
                </a:lnTo>
                <a:cubicBezTo>
                  <a:pt x="127354" y="160287"/>
                  <a:pt x="117835" y="169805"/>
                  <a:pt x="106128" y="169805"/>
                </a:cubicBezTo>
                <a:lnTo>
                  <a:pt x="21226" y="169805"/>
                </a:lnTo>
                <a:cubicBezTo>
                  <a:pt x="9518" y="169805"/>
                  <a:pt x="0" y="160287"/>
                  <a:pt x="0" y="148579"/>
                </a:cubicBezTo>
                <a:lnTo>
                  <a:pt x="0" y="74290"/>
                </a:lnTo>
                <a:cubicBezTo>
                  <a:pt x="0" y="62582"/>
                  <a:pt x="9518" y="53064"/>
                  <a:pt x="21226" y="53064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1" name="Text 29"/>
          <p:cNvSpPr/>
          <p:nvPr/>
        </p:nvSpPr>
        <p:spPr>
          <a:xfrm>
            <a:off x="984869" y="4635677"/>
            <a:ext cx="70469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5454" y="5128111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3" name="Text 31"/>
          <p:cNvSpPr/>
          <p:nvPr/>
        </p:nvSpPr>
        <p:spPr>
          <a:xfrm>
            <a:off x="611298" y="5060189"/>
            <a:ext cx="162163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5454" y="5399799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5" name="Text 33"/>
          <p:cNvSpPr/>
          <p:nvPr/>
        </p:nvSpPr>
        <p:spPr>
          <a:xfrm>
            <a:off x="611298" y="5331877"/>
            <a:ext cx="134146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authentication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5454" y="5671487"/>
            <a:ext cx="67922" cy="67922"/>
          </a:xfrm>
          <a:custGeom>
            <a:avLst/>
            <a:gdLst/>
            <a:ahLst/>
            <a:cxnLst/>
            <a:rect l="l" t="t" r="r" b="b"/>
            <a:pathLst>
              <a:path w="67922" h="67922">
                <a:moveTo>
                  <a:pt x="33961" y="0"/>
                </a:moveTo>
                <a:lnTo>
                  <a:pt x="33961" y="0"/>
                </a:lnTo>
                <a:cubicBezTo>
                  <a:pt x="52717" y="0"/>
                  <a:pt x="67922" y="15205"/>
                  <a:pt x="67922" y="33961"/>
                </a:cubicBezTo>
                <a:lnTo>
                  <a:pt x="67922" y="33961"/>
                </a:lnTo>
                <a:cubicBezTo>
                  <a:pt x="67922" y="52717"/>
                  <a:pt x="52717" y="67922"/>
                  <a:pt x="33961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7" name="Text 35"/>
          <p:cNvSpPr/>
          <p:nvPr/>
        </p:nvSpPr>
        <p:spPr>
          <a:xfrm>
            <a:off x="611298" y="5603565"/>
            <a:ext cx="101034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encryption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986961" y="1052791"/>
            <a:ext cx="6868613" cy="4890384"/>
          </a:xfrm>
          <a:custGeom>
            <a:avLst/>
            <a:gdLst/>
            <a:ahLst/>
            <a:cxnLst/>
            <a:rect l="l" t="t" r="r" b="b"/>
            <a:pathLst>
              <a:path w="6868613" h="4890384">
                <a:moveTo>
                  <a:pt x="101867" y="0"/>
                </a:moveTo>
                <a:lnTo>
                  <a:pt x="6766746" y="0"/>
                </a:lnTo>
                <a:cubicBezTo>
                  <a:pt x="6823006" y="0"/>
                  <a:pt x="6868613" y="45607"/>
                  <a:pt x="6868613" y="101867"/>
                </a:cubicBezTo>
                <a:lnTo>
                  <a:pt x="6868613" y="4788518"/>
                </a:lnTo>
                <a:cubicBezTo>
                  <a:pt x="6868613" y="4844777"/>
                  <a:pt x="6823006" y="4890384"/>
                  <a:pt x="6766746" y="4890384"/>
                </a:cubicBezTo>
                <a:lnTo>
                  <a:pt x="101867" y="4890384"/>
                </a:lnTo>
                <a:cubicBezTo>
                  <a:pt x="45607" y="4890384"/>
                  <a:pt x="0" y="4844777"/>
                  <a:pt x="0" y="4788518"/>
                </a:cubicBezTo>
                <a:lnTo>
                  <a:pt x="0" y="101867"/>
                </a:lnTo>
                <a:cubicBezTo>
                  <a:pt x="0" y="45607"/>
                  <a:pt x="45607" y="0"/>
                  <a:pt x="1018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7354" dist="84903" dir="540000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48276" y="1222490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0" y="31838"/>
                </a:moveTo>
                <a:cubicBezTo>
                  <a:pt x="0" y="21292"/>
                  <a:pt x="8557" y="12735"/>
                  <a:pt x="19103" y="12735"/>
                </a:cubicBezTo>
                <a:lnTo>
                  <a:pt x="57309" y="12735"/>
                </a:lnTo>
                <a:cubicBezTo>
                  <a:pt x="67856" y="12735"/>
                  <a:pt x="76412" y="21292"/>
                  <a:pt x="76412" y="31838"/>
                </a:cubicBezTo>
                <a:lnTo>
                  <a:pt x="76412" y="38206"/>
                </a:lnTo>
                <a:lnTo>
                  <a:pt x="127354" y="38206"/>
                </a:lnTo>
                <a:lnTo>
                  <a:pt x="127354" y="31838"/>
                </a:lnTo>
                <a:cubicBezTo>
                  <a:pt x="127354" y="21292"/>
                  <a:pt x="135910" y="12735"/>
                  <a:pt x="146457" y="12735"/>
                </a:cubicBezTo>
                <a:lnTo>
                  <a:pt x="184663" y="12735"/>
                </a:lnTo>
                <a:cubicBezTo>
                  <a:pt x="195209" y="12735"/>
                  <a:pt x="203766" y="21292"/>
                  <a:pt x="203766" y="31838"/>
                </a:cubicBezTo>
                <a:lnTo>
                  <a:pt x="203766" y="70045"/>
                </a:lnTo>
                <a:cubicBezTo>
                  <a:pt x="203766" y="80591"/>
                  <a:pt x="195209" y="89148"/>
                  <a:pt x="184663" y="89148"/>
                </a:cubicBezTo>
                <a:lnTo>
                  <a:pt x="146457" y="89148"/>
                </a:lnTo>
                <a:cubicBezTo>
                  <a:pt x="135910" y="89148"/>
                  <a:pt x="127354" y="80591"/>
                  <a:pt x="127354" y="70045"/>
                </a:cubicBezTo>
                <a:lnTo>
                  <a:pt x="127354" y="63677"/>
                </a:lnTo>
                <a:lnTo>
                  <a:pt x="76412" y="63677"/>
                </a:lnTo>
                <a:lnTo>
                  <a:pt x="76412" y="70045"/>
                </a:lnTo>
                <a:cubicBezTo>
                  <a:pt x="76412" y="72950"/>
                  <a:pt x="75736" y="75736"/>
                  <a:pt x="74582" y="78203"/>
                </a:cubicBezTo>
                <a:lnTo>
                  <a:pt x="101883" y="114618"/>
                </a:lnTo>
                <a:lnTo>
                  <a:pt x="133721" y="114618"/>
                </a:lnTo>
                <a:cubicBezTo>
                  <a:pt x="144268" y="114618"/>
                  <a:pt x="152825" y="123175"/>
                  <a:pt x="152825" y="133721"/>
                </a:cubicBezTo>
                <a:lnTo>
                  <a:pt x="152825" y="171928"/>
                </a:lnTo>
                <a:cubicBezTo>
                  <a:pt x="152825" y="182474"/>
                  <a:pt x="144268" y="191031"/>
                  <a:pt x="133721" y="191031"/>
                </a:cubicBezTo>
                <a:lnTo>
                  <a:pt x="95515" y="191031"/>
                </a:lnTo>
                <a:cubicBezTo>
                  <a:pt x="84969" y="191031"/>
                  <a:pt x="76412" y="182474"/>
                  <a:pt x="76412" y="171928"/>
                </a:cubicBezTo>
                <a:lnTo>
                  <a:pt x="76412" y="133721"/>
                </a:lnTo>
                <a:cubicBezTo>
                  <a:pt x="76412" y="130816"/>
                  <a:pt x="77089" y="128030"/>
                  <a:pt x="78243" y="125563"/>
                </a:cubicBezTo>
                <a:lnTo>
                  <a:pt x="50942" y="89148"/>
                </a:lnTo>
                <a:lnTo>
                  <a:pt x="19103" y="89148"/>
                </a:lnTo>
                <a:cubicBezTo>
                  <a:pt x="8557" y="89148"/>
                  <a:pt x="0" y="80591"/>
                  <a:pt x="0" y="70045"/>
                </a:cubicBezTo>
                <a:lnTo>
                  <a:pt x="0" y="31838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0" name="Text 38"/>
          <p:cNvSpPr/>
          <p:nvPr/>
        </p:nvSpPr>
        <p:spPr>
          <a:xfrm>
            <a:off x="5377513" y="1188635"/>
            <a:ext cx="6444100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Workflow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26571" y="1562100"/>
            <a:ext cx="33961" cy="3497983"/>
          </a:xfrm>
          <a:custGeom>
            <a:avLst/>
            <a:gdLst/>
            <a:ahLst/>
            <a:cxnLst/>
            <a:rect l="l" t="t" r="r" b="b"/>
            <a:pathLst>
              <a:path w="33961" h="3497983">
                <a:moveTo>
                  <a:pt x="0" y="0"/>
                </a:moveTo>
                <a:lnTo>
                  <a:pt x="33961" y="0"/>
                </a:lnTo>
                <a:lnTo>
                  <a:pt x="33961" y="3497983"/>
                </a:lnTo>
                <a:lnTo>
                  <a:pt x="0" y="349798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535C"/>
              </a:gs>
              <a:gs pos="0">
                <a:srgbClr val="FFFFFF"/>
              </a:gs>
              <a:gs pos="50000">
                <a:srgbClr val="4A7C59"/>
              </a:gs>
              <a:gs pos="100000">
                <a:srgbClr val="F7B538"/>
              </a:gs>
            </a:gsLst>
            <a:lin ang="54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5122805" y="1562100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3" name="Text 41"/>
          <p:cNvSpPr/>
          <p:nvPr/>
        </p:nvSpPr>
        <p:spPr>
          <a:xfrm>
            <a:off x="5305027" y="1663983"/>
            <a:ext cx="11037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66181" y="1562100"/>
            <a:ext cx="6053549" cy="645259"/>
          </a:xfrm>
          <a:custGeom>
            <a:avLst/>
            <a:gdLst/>
            <a:ahLst/>
            <a:cxnLst/>
            <a:rect l="l" t="t" r="r" b="b"/>
            <a:pathLst>
              <a:path w="6053549" h="645259">
                <a:moveTo>
                  <a:pt x="67920" y="0"/>
                </a:moveTo>
                <a:lnTo>
                  <a:pt x="5985629" y="0"/>
                </a:lnTo>
                <a:cubicBezTo>
                  <a:pt x="6023140" y="0"/>
                  <a:pt x="6053549" y="30409"/>
                  <a:pt x="6053549" y="67920"/>
                </a:cubicBezTo>
                <a:lnTo>
                  <a:pt x="6053549" y="577339"/>
                </a:lnTo>
                <a:cubicBezTo>
                  <a:pt x="6053549" y="614850"/>
                  <a:pt x="6023140" y="645259"/>
                  <a:pt x="5985629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768064" y="1663983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Complaint Submission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768064" y="1901710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submits complaint with GPS location, category, severity, and optional images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22805" y="227528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8" name="Text 46"/>
          <p:cNvSpPr/>
          <p:nvPr/>
        </p:nvSpPr>
        <p:spPr>
          <a:xfrm>
            <a:off x="5291973" y="2377164"/>
            <a:ext cx="13584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66181" y="2275281"/>
            <a:ext cx="6053549" cy="645259"/>
          </a:xfrm>
          <a:custGeom>
            <a:avLst/>
            <a:gdLst/>
            <a:ahLst/>
            <a:cxnLst/>
            <a:rect l="l" t="t" r="r" b="b"/>
            <a:pathLst>
              <a:path w="6053549" h="645259">
                <a:moveTo>
                  <a:pt x="67920" y="0"/>
                </a:moveTo>
                <a:lnTo>
                  <a:pt x="5985629" y="0"/>
                </a:lnTo>
                <a:cubicBezTo>
                  <a:pt x="6023140" y="0"/>
                  <a:pt x="6053549" y="30409"/>
                  <a:pt x="6053549" y="67920"/>
                </a:cubicBezTo>
                <a:lnTo>
                  <a:pt x="6053549" y="577339"/>
                </a:lnTo>
                <a:cubicBezTo>
                  <a:pt x="6053549" y="614850"/>
                  <a:pt x="6023140" y="645259"/>
                  <a:pt x="5985629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4A7C59">
              <a:alpha val="5098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768064" y="2377164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Sync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68064" y="2614892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instantly syncs across all connected devices and dashboards via Firebase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122805" y="2988463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3" name="Text 51"/>
          <p:cNvSpPr/>
          <p:nvPr/>
        </p:nvSpPr>
        <p:spPr>
          <a:xfrm>
            <a:off x="5290169" y="3090346"/>
            <a:ext cx="14433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66181" y="2988463"/>
            <a:ext cx="6053549" cy="645259"/>
          </a:xfrm>
          <a:custGeom>
            <a:avLst/>
            <a:gdLst/>
            <a:ahLst/>
            <a:cxnLst/>
            <a:rect l="l" t="t" r="r" b="b"/>
            <a:pathLst>
              <a:path w="6053549" h="645259">
                <a:moveTo>
                  <a:pt x="67920" y="0"/>
                </a:moveTo>
                <a:lnTo>
                  <a:pt x="5985629" y="0"/>
                </a:lnTo>
                <a:cubicBezTo>
                  <a:pt x="6023140" y="0"/>
                  <a:pt x="6053549" y="30409"/>
                  <a:pt x="6053549" y="67920"/>
                </a:cubicBezTo>
                <a:lnTo>
                  <a:pt x="6053549" y="577339"/>
                </a:lnTo>
                <a:cubicBezTo>
                  <a:pt x="6053549" y="614850"/>
                  <a:pt x="6023140" y="645259"/>
                  <a:pt x="5985629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F7B538">
              <a:alpha val="5098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768064" y="3090346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Review &amp; Assignment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68064" y="3328073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reviews complaint, updates status, assigns to relevant department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122805" y="3701644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58" name="Text 56"/>
          <p:cNvSpPr/>
          <p:nvPr/>
        </p:nvSpPr>
        <p:spPr>
          <a:xfrm>
            <a:off x="5291973" y="3803527"/>
            <a:ext cx="13584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666181" y="3701644"/>
            <a:ext cx="6053549" cy="645259"/>
          </a:xfrm>
          <a:custGeom>
            <a:avLst/>
            <a:gdLst/>
            <a:ahLst/>
            <a:cxnLst/>
            <a:rect l="l" t="t" r="r" b="b"/>
            <a:pathLst>
              <a:path w="6053549" h="645259">
                <a:moveTo>
                  <a:pt x="67920" y="0"/>
                </a:moveTo>
                <a:lnTo>
                  <a:pt x="5985629" y="0"/>
                </a:lnTo>
                <a:cubicBezTo>
                  <a:pt x="6023140" y="0"/>
                  <a:pt x="6053549" y="30409"/>
                  <a:pt x="6053549" y="67920"/>
                </a:cubicBezTo>
                <a:lnTo>
                  <a:pt x="6053549" y="577339"/>
                </a:lnTo>
                <a:cubicBezTo>
                  <a:pt x="6053549" y="614850"/>
                  <a:pt x="6023140" y="645259"/>
                  <a:pt x="5985629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768064" y="3803527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Action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768064" y="4041254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addresses the issue and updates progress in real-time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122805" y="441482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3" name="Text 61"/>
          <p:cNvSpPr/>
          <p:nvPr/>
        </p:nvSpPr>
        <p:spPr>
          <a:xfrm>
            <a:off x="5289957" y="4516708"/>
            <a:ext cx="14433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666181" y="4414825"/>
            <a:ext cx="6053549" cy="645259"/>
          </a:xfrm>
          <a:custGeom>
            <a:avLst/>
            <a:gdLst/>
            <a:ahLst/>
            <a:cxnLst/>
            <a:rect l="l" t="t" r="r" b="b"/>
            <a:pathLst>
              <a:path w="6053549" h="645259">
                <a:moveTo>
                  <a:pt x="67920" y="0"/>
                </a:moveTo>
                <a:lnTo>
                  <a:pt x="5985629" y="0"/>
                </a:lnTo>
                <a:cubicBezTo>
                  <a:pt x="6023140" y="0"/>
                  <a:pt x="6053549" y="30409"/>
                  <a:pt x="6053549" y="67920"/>
                </a:cubicBezTo>
                <a:lnTo>
                  <a:pt x="6053549" y="577339"/>
                </a:lnTo>
                <a:cubicBezTo>
                  <a:pt x="6053549" y="614850"/>
                  <a:pt x="6023140" y="645259"/>
                  <a:pt x="5985629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4A7C59">
              <a:alpha val="5098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5768064" y="4516708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&amp; Feedback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768064" y="4754435"/>
            <a:ext cx="591770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Complaint marked resolved, citizen receives notification, analytics updated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39610" y="6011097"/>
            <a:ext cx="2801783" cy="849025"/>
          </a:xfrm>
          <a:custGeom>
            <a:avLst/>
            <a:gdLst/>
            <a:ahLst/>
            <a:cxnLst/>
            <a:rect l="l" t="t" r="r" b="b"/>
            <a:pathLst>
              <a:path w="2801783" h="849025">
                <a:moveTo>
                  <a:pt x="67922" y="0"/>
                </a:moveTo>
                <a:lnTo>
                  <a:pt x="2733861" y="0"/>
                </a:lnTo>
                <a:cubicBezTo>
                  <a:pt x="2771373" y="0"/>
                  <a:pt x="2801783" y="30410"/>
                  <a:pt x="2801783" y="67922"/>
                </a:cubicBezTo>
                <a:lnTo>
                  <a:pt x="2801783" y="781103"/>
                </a:lnTo>
                <a:cubicBezTo>
                  <a:pt x="2801783" y="818615"/>
                  <a:pt x="2771373" y="849025"/>
                  <a:pt x="2733861" y="849025"/>
                </a:cubicBezTo>
                <a:lnTo>
                  <a:pt x="67922" y="849025"/>
                </a:lnTo>
                <a:cubicBezTo>
                  <a:pt x="30410" y="849025"/>
                  <a:pt x="0" y="818615"/>
                  <a:pt x="0" y="781103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535C"/>
              </a:gs>
              <a:gs pos="100000">
                <a:srgbClr val="1A535C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68" name="Shape 66"/>
          <p:cNvSpPr/>
          <p:nvPr/>
        </p:nvSpPr>
        <p:spPr>
          <a:xfrm>
            <a:off x="1651778" y="6112981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134836" y="-3940"/>
                </a:moveTo>
                <a:cubicBezTo>
                  <a:pt x="139572" y="-517"/>
                  <a:pt x="141323" y="5691"/>
                  <a:pt x="139174" y="11104"/>
                </a:cubicBezTo>
                <a:lnTo>
                  <a:pt x="107972" y="89148"/>
                </a:lnTo>
                <a:lnTo>
                  <a:pt x="165560" y="89148"/>
                </a:lnTo>
                <a:cubicBezTo>
                  <a:pt x="170933" y="89148"/>
                  <a:pt x="175708" y="92491"/>
                  <a:pt x="177539" y="97545"/>
                </a:cubicBezTo>
                <a:cubicBezTo>
                  <a:pt x="179370" y="102599"/>
                  <a:pt x="177818" y="108251"/>
                  <a:pt x="173718" y="111673"/>
                </a:cubicBezTo>
                <a:lnTo>
                  <a:pt x="59100" y="207189"/>
                </a:lnTo>
                <a:cubicBezTo>
                  <a:pt x="54603" y="210930"/>
                  <a:pt x="48195" y="211129"/>
                  <a:pt x="43459" y="207706"/>
                </a:cubicBezTo>
                <a:cubicBezTo>
                  <a:pt x="38724" y="204283"/>
                  <a:pt x="36972" y="198075"/>
                  <a:pt x="39121" y="192662"/>
                </a:cubicBezTo>
                <a:lnTo>
                  <a:pt x="70323" y="114618"/>
                </a:lnTo>
                <a:lnTo>
                  <a:pt x="12735" y="114618"/>
                </a:lnTo>
                <a:cubicBezTo>
                  <a:pt x="7363" y="114618"/>
                  <a:pt x="2587" y="111275"/>
                  <a:pt x="756" y="106221"/>
                </a:cubicBezTo>
                <a:cubicBezTo>
                  <a:pt x="-1075" y="101167"/>
                  <a:pt x="478" y="95515"/>
                  <a:pt x="4577" y="92093"/>
                </a:cubicBezTo>
                <a:lnTo>
                  <a:pt x="119195" y="-3423"/>
                </a:lnTo>
                <a:cubicBezTo>
                  <a:pt x="123692" y="-7164"/>
                  <a:pt x="130100" y="-7363"/>
                  <a:pt x="134836" y="-394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69" name="Text 67"/>
          <p:cNvSpPr/>
          <p:nvPr/>
        </p:nvSpPr>
        <p:spPr>
          <a:xfrm>
            <a:off x="399042" y="6350708"/>
            <a:ext cx="268291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7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11777" y="6588435"/>
            <a:ext cx="265744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Synchronization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244125" y="6011097"/>
            <a:ext cx="2801783" cy="849025"/>
          </a:xfrm>
          <a:custGeom>
            <a:avLst/>
            <a:gdLst/>
            <a:ahLst/>
            <a:cxnLst/>
            <a:rect l="l" t="t" r="r" b="b"/>
            <a:pathLst>
              <a:path w="2801783" h="849025">
                <a:moveTo>
                  <a:pt x="67922" y="0"/>
                </a:moveTo>
                <a:lnTo>
                  <a:pt x="2733861" y="0"/>
                </a:lnTo>
                <a:cubicBezTo>
                  <a:pt x="2771373" y="0"/>
                  <a:pt x="2801783" y="30410"/>
                  <a:pt x="2801783" y="67922"/>
                </a:cubicBezTo>
                <a:lnTo>
                  <a:pt x="2801783" y="781103"/>
                </a:lnTo>
                <a:cubicBezTo>
                  <a:pt x="2801783" y="818615"/>
                  <a:pt x="2771373" y="849025"/>
                  <a:pt x="2733861" y="849025"/>
                </a:cubicBezTo>
                <a:lnTo>
                  <a:pt x="67922" y="849025"/>
                </a:lnTo>
                <a:cubicBezTo>
                  <a:pt x="30410" y="849025"/>
                  <a:pt x="0" y="818615"/>
                  <a:pt x="0" y="781103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4A7C59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72" name="Shape 70"/>
          <p:cNvSpPr/>
          <p:nvPr/>
        </p:nvSpPr>
        <p:spPr>
          <a:xfrm>
            <a:off x="4556293" y="6112981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66861" y="12735"/>
                </a:moveTo>
                <a:lnTo>
                  <a:pt x="9552" y="12735"/>
                </a:lnTo>
                <a:cubicBezTo>
                  <a:pt x="4258" y="12735"/>
                  <a:pt x="0" y="16994"/>
                  <a:pt x="0" y="22287"/>
                </a:cubicBezTo>
                <a:lnTo>
                  <a:pt x="0" y="79596"/>
                </a:lnTo>
                <a:cubicBezTo>
                  <a:pt x="0" y="83457"/>
                  <a:pt x="2308" y="86959"/>
                  <a:pt x="5890" y="88431"/>
                </a:cubicBezTo>
                <a:cubicBezTo>
                  <a:pt x="9472" y="89904"/>
                  <a:pt x="13571" y="89068"/>
                  <a:pt x="16317" y="86362"/>
                </a:cubicBezTo>
                <a:lnTo>
                  <a:pt x="32236" y="70443"/>
                </a:lnTo>
                <a:lnTo>
                  <a:pt x="63677" y="101883"/>
                </a:lnTo>
                <a:lnTo>
                  <a:pt x="32236" y="133323"/>
                </a:lnTo>
                <a:lnTo>
                  <a:pt x="16317" y="117404"/>
                </a:lnTo>
                <a:cubicBezTo>
                  <a:pt x="13571" y="114658"/>
                  <a:pt x="9472" y="113862"/>
                  <a:pt x="5890" y="115335"/>
                </a:cubicBezTo>
                <a:cubicBezTo>
                  <a:pt x="2308" y="116807"/>
                  <a:pt x="0" y="120310"/>
                  <a:pt x="0" y="124170"/>
                </a:cubicBezTo>
                <a:lnTo>
                  <a:pt x="0" y="181479"/>
                </a:lnTo>
                <a:cubicBezTo>
                  <a:pt x="0" y="186772"/>
                  <a:pt x="4258" y="191031"/>
                  <a:pt x="9552" y="191031"/>
                </a:cubicBezTo>
                <a:lnTo>
                  <a:pt x="66861" y="191031"/>
                </a:lnTo>
                <a:cubicBezTo>
                  <a:pt x="70721" y="191031"/>
                  <a:pt x="74223" y="188722"/>
                  <a:pt x="75696" y="185141"/>
                </a:cubicBezTo>
                <a:cubicBezTo>
                  <a:pt x="77168" y="181559"/>
                  <a:pt x="76372" y="177460"/>
                  <a:pt x="73626" y="174713"/>
                </a:cubicBezTo>
                <a:lnTo>
                  <a:pt x="57707" y="158794"/>
                </a:lnTo>
                <a:lnTo>
                  <a:pt x="89148" y="127354"/>
                </a:lnTo>
                <a:lnTo>
                  <a:pt x="120588" y="158794"/>
                </a:lnTo>
                <a:lnTo>
                  <a:pt x="104669" y="174713"/>
                </a:lnTo>
                <a:cubicBezTo>
                  <a:pt x="101923" y="177460"/>
                  <a:pt x="101127" y="181559"/>
                  <a:pt x="102599" y="185141"/>
                </a:cubicBezTo>
                <a:cubicBezTo>
                  <a:pt x="104072" y="188722"/>
                  <a:pt x="107574" y="191031"/>
                  <a:pt x="111435" y="191031"/>
                </a:cubicBezTo>
                <a:lnTo>
                  <a:pt x="168744" y="191031"/>
                </a:lnTo>
                <a:cubicBezTo>
                  <a:pt x="174037" y="191031"/>
                  <a:pt x="178295" y="186772"/>
                  <a:pt x="178295" y="181479"/>
                </a:cubicBezTo>
                <a:lnTo>
                  <a:pt x="178295" y="124170"/>
                </a:lnTo>
                <a:cubicBezTo>
                  <a:pt x="178295" y="120310"/>
                  <a:pt x="175987" y="116807"/>
                  <a:pt x="172405" y="115335"/>
                </a:cubicBezTo>
                <a:cubicBezTo>
                  <a:pt x="168823" y="113862"/>
                  <a:pt x="164724" y="114658"/>
                  <a:pt x="161978" y="117404"/>
                </a:cubicBezTo>
                <a:lnTo>
                  <a:pt x="146059" y="133323"/>
                </a:lnTo>
                <a:lnTo>
                  <a:pt x="114618" y="101883"/>
                </a:lnTo>
                <a:lnTo>
                  <a:pt x="146059" y="70443"/>
                </a:lnTo>
                <a:lnTo>
                  <a:pt x="161978" y="86362"/>
                </a:lnTo>
                <a:cubicBezTo>
                  <a:pt x="164724" y="89108"/>
                  <a:pt x="168823" y="89904"/>
                  <a:pt x="172405" y="88431"/>
                </a:cubicBezTo>
                <a:cubicBezTo>
                  <a:pt x="175987" y="86959"/>
                  <a:pt x="178295" y="83457"/>
                  <a:pt x="178295" y="79596"/>
                </a:cubicBezTo>
                <a:lnTo>
                  <a:pt x="178295" y="22287"/>
                </a:lnTo>
                <a:cubicBezTo>
                  <a:pt x="178295" y="16994"/>
                  <a:pt x="174037" y="12735"/>
                  <a:pt x="168744" y="12735"/>
                </a:cubicBezTo>
                <a:lnTo>
                  <a:pt x="111435" y="12735"/>
                </a:lnTo>
                <a:cubicBezTo>
                  <a:pt x="107574" y="12735"/>
                  <a:pt x="104072" y="15044"/>
                  <a:pt x="102599" y="18625"/>
                </a:cubicBezTo>
                <a:cubicBezTo>
                  <a:pt x="101127" y="22207"/>
                  <a:pt x="101963" y="26307"/>
                  <a:pt x="104669" y="29053"/>
                </a:cubicBezTo>
                <a:lnTo>
                  <a:pt x="120588" y="44972"/>
                </a:lnTo>
                <a:lnTo>
                  <a:pt x="89148" y="76412"/>
                </a:lnTo>
                <a:lnTo>
                  <a:pt x="57707" y="44972"/>
                </a:lnTo>
                <a:lnTo>
                  <a:pt x="73626" y="29053"/>
                </a:lnTo>
                <a:cubicBezTo>
                  <a:pt x="76372" y="26307"/>
                  <a:pt x="77168" y="22207"/>
                  <a:pt x="75696" y="18625"/>
                </a:cubicBezTo>
                <a:cubicBezTo>
                  <a:pt x="74223" y="15044"/>
                  <a:pt x="70721" y="12735"/>
                  <a:pt x="66861" y="12735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73" name="Text 71"/>
          <p:cNvSpPr/>
          <p:nvPr/>
        </p:nvSpPr>
        <p:spPr>
          <a:xfrm>
            <a:off x="3303557" y="6350708"/>
            <a:ext cx="268291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7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316292" y="6588435"/>
            <a:ext cx="265744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Architecture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48746" y="6011097"/>
            <a:ext cx="2801783" cy="849025"/>
          </a:xfrm>
          <a:custGeom>
            <a:avLst/>
            <a:gdLst/>
            <a:ahLst/>
            <a:cxnLst/>
            <a:rect l="l" t="t" r="r" b="b"/>
            <a:pathLst>
              <a:path w="2801783" h="849025">
                <a:moveTo>
                  <a:pt x="67922" y="0"/>
                </a:moveTo>
                <a:lnTo>
                  <a:pt x="2733861" y="0"/>
                </a:lnTo>
                <a:cubicBezTo>
                  <a:pt x="2771373" y="0"/>
                  <a:pt x="2801783" y="30410"/>
                  <a:pt x="2801783" y="67922"/>
                </a:cubicBezTo>
                <a:lnTo>
                  <a:pt x="2801783" y="781103"/>
                </a:lnTo>
                <a:cubicBezTo>
                  <a:pt x="2801783" y="818615"/>
                  <a:pt x="2771373" y="849025"/>
                  <a:pt x="2733861" y="849025"/>
                </a:cubicBezTo>
                <a:lnTo>
                  <a:pt x="67922" y="849025"/>
                </a:lnTo>
                <a:cubicBezTo>
                  <a:pt x="30410" y="849025"/>
                  <a:pt x="0" y="818615"/>
                  <a:pt x="0" y="781103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F7B538"/>
              </a:gs>
              <a:gs pos="100000">
                <a:srgbClr val="F7B538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76" name="Shape 74"/>
          <p:cNvSpPr/>
          <p:nvPr/>
        </p:nvSpPr>
        <p:spPr>
          <a:xfrm>
            <a:off x="7473649" y="6112981"/>
            <a:ext cx="152825" cy="203766"/>
          </a:xfrm>
          <a:custGeom>
            <a:avLst/>
            <a:gdLst/>
            <a:ahLst/>
            <a:cxnLst/>
            <a:rect l="l" t="t" r="r" b="b"/>
            <a:pathLst>
              <a:path w="152825" h="203766">
                <a:moveTo>
                  <a:pt x="6368" y="25471"/>
                </a:moveTo>
                <a:cubicBezTo>
                  <a:pt x="6368" y="11422"/>
                  <a:pt x="17790" y="0"/>
                  <a:pt x="31838" y="0"/>
                </a:cubicBezTo>
                <a:lnTo>
                  <a:pt x="120986" y="0"/>
                </a:lnTo>
                <a:cubicBezTo>
                  <a:pt x="135035" y="0"/>
                  <a:pt x="146457" y="11422"/>
                  <a:pt x="146457" y="25471"/>
                </a:cubicBezTo>
                <a:lnTo>
                  <a:pt x="146457" y="178295"/>
                </a:lnTo>
                <a:cubicBezTo>
                  <a:pt x="146457" y="192344"/>
                  <a:pt x="135035" y="203766"/>
                  <a:pt x="120986" y="203766"/>
                </a:cubicBezTo>
                <a:lnTo>
                  <a:pt x="31838" y="203766"/>
                </a:lnTo>
                <a:cubicBezTo>
                  <a:pt x="17790" y="203766"/>
                  <a:pt x="6368" y="192344"/>
                  <a:pt x="6368" y="178295"/>
                </a:cubicBezTo>
                <a:lnTo>
                  <a:pt x="6368" y="25471"/>
                </a:lnTo>
                <a:close/>
                <a:moveTo>
                  <a:pt x="31838" y="25471"/>
                </a:moveTo>
                <a:lnTo>
                  <a:pt x="31838" y="146457"/>
                </a:lnTo>
                <a:lnTo>
                  <a:pt x="120986" y="146457"/>
                </a:lnTo>
                <a:lnTo>
                  <a:pt x="120986" y="25471"/>
                </a:lnTo>
                <a:lnTo>
                  <a:pt x="31838" y="25471"/>
                </a:lnTo>
                <a:close/>
                <a:moveTo>
                  <a:pt x="76412" y="187847"/>
                </a:moveTo>
                <a:cubicBezTo>
                  <a:pt x="83457" y="187847"/>
                  <a:pt x="89148" y="182156"/>
                  <a:pt x="89148" y="175111"/>
                </a:cubicBezTo>
                <a:cubicBezTo>
                  <a:pt x="89148" y="168067"/>
                  <a:pt x="83457" y="162376"/>
                  <a:pt x="76412" y="162376"/>
                </a:cubicBezTo>
                <a:cubicBezTo>
                  <a:pt x="69368" y="162376"/>
                  <a:pt x="63677" y="168067"/>
                  <a:pt x="63677" y="175111"/>
                </a:cubicBezTo>
                <a:cubicBezTo>
                  <a:pt x="63677" y="182156"/>
                  <a:pt x="69368" y="187847"/>
                  <a:pt x="76412" y="187847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77" name="Text 75"/>
          <p:cNvSpPr/>
          <p:nvPr/>
        </p:nvSpPr>
        <p:spPr>
          <a:xfrm>
            <a:off x="6208178" y="6350708"/>
            <a:ext cx="268291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7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220913" y="6588435"/>
            <a:ext cx="265744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1A535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053367" y="6011097"/>
            <a:ext cx="2801783" cy="849025"/>
          </a:xfrm>
          <a:custGeom>
            <a:avLst/>
            <a:gdLst/>
            <a:ahLst/>
            <a:cxnLst/>
            <a:rect l="l" t="t" r="r" b="b"/>
            <a:pathLst>
              <a:path w="2801783" h="849025">
                <a:moveTo>
                  <a:pt x="67922" y="0"/>
                </a:moveTo>
                <a:lnTo>
                  <a:pt x="2733861" y="0"/>
                </a:lnTo>
                <a:cubicBezTo>
                  <a:pt x="2771373" y="0"/>
                  <a:pt x="2801783" y="30410"/>
                  <a:pt x="2801783" y="67922"/>
                </a:cubicBezTo>
                <a:lnTo>
                  <a:pt x="2801783" y="781103"/>
                </a:lnTo>
                <a:cubicBezTo>
                  <a:pt x="2801783" y="818615"/>
                  <a:pt x="2771373" y="849025"/>
                  <a:pt x="2733861" y="849025"/>
                </a:cubicBezTo>
                <a:lnTo>
                  <a:pt x="67922" y="849025"/>
                </a:lnTo>
                <a:cubicBezTo>
                  <a:pt x="30410" y="849025"/>
                  <a:pt x="0" y="818615"/>
                  <a:pt x="0" y="781103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535C"/>
              </a:gs>
              <a:gs pos="100000">
                <a:srgbClr val="4A7C59"/>
              </a:gs>
            </a:gsLst>
            <a:lin ang="2700000" scaled="1"/>
          </a:gradFill>
          <a:ln/>
        </p:spPr>
      </p:sp>
      <p:sp>
        <p:nvSpPr>
          <p:cNvPr id="80" name="Shape 78"/>
          <p:cNvSpPr/>
          <p:nvPr/>
        </p:nvSpPr>
        <p:spPr>
          <a:xfrm>
            <a:off x="10352799" y="6112981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0"/>
                </a:moveTo>
                <a:cubicBezTo>
                  <a:pt x="103714" y="0"/>
                  <a:pt x="105544" y="398"/>
                  <a:pt x="107216" y="1154"/>
                </a:cubicBezTo>
                <a:lnTo>
                  <a:pt x="182195" y="32953"/>
                </a:lnTo>
                <a:cubicBezTo>
                  <a:pt x="190951" y="36654"/>
                  <a:pt x="197478" y="45290"/>
                  <a:pt x="197438" y="55717"/>
                </a:cubicBezTo>
                <a:cubicBezTo>
                  <a:pt x="197239" y="95197"/>
                  <a:pt x="181002" y="167430"/>
                  <a:pt x="112429" y="200264"/>
                </a:cubicBezTo>
                <a:cubicBezTo>
                  <a:pt x="105783" y="203448"/>
                  <a:pt x="98062" y="203448"/>
                  <a:pt x="91416" y="200264"/>
                </a:cubicBezTo>
                <a:cubicBezTo>
                  <a:pt x="22804" y="167430"/>
                  <a:pt x="6606" y="95197"/>
                  <a:pt x="6407" y="55717"/>
                </a:cubicBezTo>
                <a:cubicBezTo>
                  <a:pt x="6368" y="45290"/>
                  <a:pt x="12895" y="36654"/>
                  <a:pt x="21650" y="32953"/>
                </a:cubicBezTo>
                <a:lnTo>
                  <a:pt x="96590" y="1154"/>
                </a:lnTo>
                <a:cubicBezTo>
                  <a:pt x="98261" y="398"/>
                  <a:pt x="100052" y="0"/>
                  <a:pt x="101883" y="0"/>
                </a:cubicBezTo>
                <a:close/>
                <a:moveTo>
                  <a:pt x="101883" y="26585"/>
                </a:moveTo>
                <a:lnTo>
                  <a:pt x="101883" y="177062"/>
                </a:lnTo>
                <a:cubicBezTo>
                  <a:pt x="156804" y="150476"/>
                  <a:pt x="171569" y="91575"/>
                  <a:pt x="171928" y="56314"/>
                </a:cubicBezTo>
                <a:lnTo>
                  <a:pt x="101883" y="26625"/>
                </a:lnTo>
                <a:lnTo>
                  <a:pt x="101883" y="26625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81" name="Text 79"/>
          <p:cNvSpPr/>
          <p:nvPr/>
        </p:nvSpPr>
        <p:spPr>
          <a:xfrm>
            <a:off x="9112799" y="6350708"/>
            <a:ext cx="2682919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7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125534" y="6588435"/>
            <a:ext cx="265744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6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099" y="336099"/>
            <a:ext cx="33610" cy="336099"/>
          </a:xfrm>
          <a:custGeom>
            <a:avLst/>
            <a:gdLst/>
            <a:ahLst/>
            <a:cxnLst/>
            <a:rect l="l" t="t" r="r" b="b"/>
            <a:pathLst>
              <a:path w="33610" h="336099">
                <a:moveTo>
                  <a:pt x="16805" y="0"/>
                </a:moveTo>
                <a:lnTo>
                  <a:pt x="16805" y="0"/>
                </a:lnTo>
                <a:cubicBezTo>
                  <a:pt x="26086" y="0"/>
                  <a:pt x="33610" y="7524"/>
                  <a:pt x="33610" y="16805"/>
                </a:cubicBezTo>
                <a:lnTo>
                  <a:pt x="33610" y="319294"/>
                </a:lnTo>
                <a:cubicBezTo>
                  <a:pt x="33610" y="328575"/>
                  <a:pt x="26086" y="336099"/>
                  <a:pt x="16805" y="336099"/>
                </a:cubicBezTo>
                <a:lnTo>
                  <a:pt x="16805" y="336099"/>
                </a:lnTo>
                <a:cubicBezTo>
                  <a:pt x="7524" y="336099"/>
                  <a:pt x="0" y="328575"/>
                  <a:pt x="0" y="319294"/>
                </a:cubicBezTo>
                <a:lnTo>
                  <a:pt x="0" y="16805"/>
                </a:lnTo>
                <a:cubicBezTo>
                  <a:pt x="0" y="7524"/>
                  <a:pt x="7524" y="0"/>
                  <a:pt x="16805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" name="Text 1"/>
          <p:cNvSpPr/>
          <p:nvPr/>
        </p:nvSpPr>
        <p:spPr>
          <a:xfrm>
            <a:off x="470539" y="336099"/>
            <a:ext cx="4386095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 and Viability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0539" y="739418"/>
            <a:ext cx="11460984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1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assessment of technical, operational, and economic viability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99" y="1125932"/>
            <a:ext cx="3747507" cy="3982776"/>
          </a:xfrm>
          <a:custGeom>
            <a:avLst/>
            <a:gdLst/>
            <a:ahLst/>
            <a:cxnLst/>
            <a:rect l="l" t="t" r="r" b="b"/>
            <a:pathLst>
              <a:path w="3747507" h="3982776">
                <a:moveTo>
                  <a:pt x="33610" y="0"/>
                </a:moveTo>
                <a:lnTo>
                  <a:pt x="3713897" y="0"/>
                </a:lnTo>
                <a:cubicBezTo>
                  <a:pt x="3732459" y="0"/>
                  <a:pt x="3747507" y="15048"/>
                  <a:pt x="3747507" y="33610"/>
                </a:cubicBezTo>
                <a:lnTo>
                  <a:pt x="3747507" y="3881931"/>
                </a:lnTo>
                <a:cubicBezTo>
                  <a:pt x="3747507" y="3937626"/>
                  <a:pt x="3702357" y="3982776"/>
                  <a:pt x="3646661" y="3982776"/>
                </a:cubicBezTo>
                <a:lnTo>
                  <a:pt x="100845" y="3982776"/>
                </a:lnTo>
                <a:cubicBezTo>
                  <a:pt x="45150" y="3982776"/>
                  <a:pt x="0" y="3937626"/>
                  <a:pt x="0" y="388193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6037" dist="840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6099" y="1125932"/>
            <a:ext cx="3747507" cy="33610"/>
          </a:xfrm>
          <a:custGeom>
            <a:avLst/>
            <a:gdLst/>
            <a:ahLst/>
            <a:cxnLst/>
            <a:rect l="l" t="t" r="r" b="b"/>
            <a:pathLst>
              <a:path w="3747507" h="33610">
                <a:moveTo>
                  <a:pt x="33610" y="0"/>
                </a:moveTo>
                <a:lnTo>
                  <a:pt x="3713897" y="0"/>
                </a:lnTo>
                <a:cubicBezTo>
                  <a:pt x="3732459" y="0"/>
                  <a:pt x="3747507" y="15048"/>
                  <a:pt x="3747507" y="33610"/>
                </a:cubicBezTo>
                <a:lnTo>
                  <a:pt x="3747507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504149" y="1310787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3381" y="1445227"/>
            <a:ext cx="252074" cy="201660"/>
          </a:xfrm>
          <a:custGeom>
            <a:avLst/>
            <a:gdLst/>
            <a:ahLst/>
            <a:cxnLst/>
            <a:rect l="l" t="t" r="r" b="b"/>
            <a:pathLst>
              <a:path w="252074" h="201660">
                <a:moveTo>
                  <a:pt x="163809" y="82909"/>
                </a:moveTo>
                <a:cubicBezTo>
                  <a:pt x="168614" y="81609"/>
                  <a:pt x="173656" y="83894"/>
                  <a:pt x="175822" y="88344"/>
                </a:cubicBezTo>
                <a:lnTo>
                  <a:pt x="183148" y="103154"/>
                </a:lnTo>
                <a:cubicBezTo>
                  <a:pt x="187205" y="103705"/>
                  <a:pt x="191183" y="104808"/>
                  <a:pt x="194924" y="106344"/>
                </a:cubicBezTo>
                <a:lnTo>
                  <a:pt x="208710" y="97167"/>
                </a:lnTo>
                <a:cubicBezTo>
                  <a:pt x="212845" y="94410"/>
                  <a:pt x="218320" y="94961"/>
                  <a:pt x="221825" y="98467"/>
                </a:cubicBezTo>
                <a:lnTo>
                  <a:pt x="229388" y="106029"/>
                </a:lnTo>
                <a:cubicBezTo>
                  <a:pt x="232893" y="109534"/>
                  <a:pt x="233445" y="115048"/>
                  <a:pt x="230687" y="119145"/>
                </a:cubicBezTo>
                <a:lnTo>
                  <a:pt x="221510" y="132890"/>
                </a:lnTo>
                <a:cubicBezTo>
                  <a:pt x="222259" y="134742"/>
                  <a:pt x="222928" y="136672"/>
                  <a:pt x="223480" y="138680"/>
                </a:cubicBezTo>
                <a:cubicBezTo>
                  <a:pt x="224031" y="140689"/>
                  <a:pt x="224386" y="142658"/>
                  <a:pt x="224661" y="144667"/>
                </a:cubicBezTo>
                <a:lnTo>
                  <a:pt x="239510" y="151993"/>
                </a:lnTo>
                <a:cubicBezTo>
                  <a:pt x="243961" y="154199"/>
                  <a:pt x="246245" y="159240"/>
                  <a:pt x="244945" y="164006"/>
                </a:cubicBezTo>
                <a:lnTo>
                  <a:pt x="242188" y="174325"/>
                </a:lnTo>
                <a:cubicBezTo>
                  <a:pt x="240889" y="179091"/>
                  <a:pt x="236438" y="182321"/>
                  <a:pt x="231475" y="182006"/>
                </a:cubicBezTo>
                <a:lnTo>
                  <a:pt x="214933" y="180942"/>
                </a:lnTo>
                <a:cubicBezTo>
                  <a:pt x="212451" y="184132"/>
                  <a:pt x="209576" y="187086"/>
                  <a:pt x="206307" y="189607"/>
                </a:cubicBezTo>
                <a:lnTo>
                  <a:pt x="207371" y="206110"/>
                </a:lnTo>
                <a:cubicBezTo>
                  <a:pt x="207686" y="211073"/>
                  <a:pt x="204456" y="215563"/>
                  <a:pt x="199690" y="216823"/>
                </a:cubicBezTo>
                <a:lnTo>
                  <a:pt x="189371" y="219580"/>
                </a:lnTo>
                <a:cubicBezTo>
                  <a:pt x="184566" y="220880"/>
                  <a:pt x="179564" y="218596"/>
                  <a:pt x="177358" y="214145"/>
                </a:cubicBezTo>
                <a:lnTo>
                  <a:pt x="170032" y="199336"/>
                </a:lnTo>
                <a:cubicBezTo>
                  <a:pt x="165975" y="198784"/>
                  <a:pt x="161997" y="197681"/>
                  <a:pt x="158255" y="196145"/>
                </a:cubicBezTo>
                <a:lnTo>
                  <a:pt x="144470" y="205323"/>
                </a:lnTo>
                <a:cubicBezTo>
                  <a:pt x="140335" y="208080"/>
                  <a:pt x="134860" y="207528"/>
                  <a:pt x="131354" y="204023"/>
                </a:cubicBezTo>
                <a:lnTo>
                  <a:pt x="123792" y="196461"/>
                </a:lnTo>
                <a:cubicBezTo>
                  <a:pt x="120287" y="192955"/>
                  <a:pt x="119735" y="187480"/>
                  <a:pt x="122492" y="183345"/>
                </a:cubicBezTo>
                <a:lnTo>
                  <a:pt x="131670" y="169559"/>
                </a:lnTo>
                <a:cubicBezTo>
                  <a:pt x="130921" y="167708"/>
                  <a:pt x="130252" y="165778"/>
                  <a:pt x="129700" y="163770"/>
                </a:cubicBezTo>
                <a:cubicBezTo>
                  <a:pt x="129149" y="161761"/>
                  <a:pt x="128794" y="159752"/>
                  <a:pt x="128519" y="157783"/>
                </a:cubicBezTo>
                <a:lnTo>
                  <a:pt x="113670" y="150457"/>
                </a:lnTo>
                <a:cubicBezTo>
                  <a:pt x="109219" y="148251"/>
                  <a:pt x="106974" y="143210"/>
                  <a:pt x="108234" y="138444"/>
                </a:cubicBezTo>
                <a:lnTo>
                  <a:pt x="110992" y="128125"/>
                </a:lnTo>
                <a:cubicBezTo>
                  <a:pt x="112291" y="123359"/>
                  <a:pt x="116742" y="120129"/>
                  <a:pt x="121705" y="120444"/>
                </a:cubicBezTo>
                <a:lnTo>
                  <a:pt x="138208" y="121508"/>
                </a:lnTo>
                <a:cubicBezTo>
                  <a:pt x="140689" y="118317"/>
                  <a:pt x="143564" y="115363"/>
                  <a:pt x="146833" y="112843"/>
                </a:cubicBezTo>
                <a:lnTo>
                  <a:pt x="145770" y="96379"/>
                </a:lnTo>
                <a:cubicBezTo>
                  <a:pt x="145455" y="91416"/>
                  <a:pt x="148685" y="86926"/>
                  <a:pt x="153450" y="85666"/>
                </a:cubicBezTo>
                <a:lnTo>
                  <a:pt x="163770" y="82909"/>
                </a:lnTo>
                <a:close/>
                <a:moveTo>
                  <a:pt x="176610" y="133915"/>
                </a:moveTo>
                <a:cubicBezTo>
                  <a:pt x="167045" y="133925"/>
                  <a:pt x="159288" y="141700"/>
                  <a:pt x="159299" y="151264"/>
                </a:cubicBezTo>
                <a:cubicBezTo>
                  <a:pt x="159310" y="160829"/>
                  <a:pt x="167084" y="168586"/>
                  <a:pt x="176649" y="168575"/>
                </a:cubicBezTo>
                <a:cubicBezTo>
                  <a:pt x="186214" y="168564"/>
                  <a:pt x="193970" y="160790"/>
                  <a:pt x="193959" y="151225"/>
                </a:cubicBezTo>
                <a:cubicBezTo>
                  <a:pt x="193949" y="141660"/>
                  <a:pt x="186174" y="133904"/>
                  <a:pt x="176610" y="133915"/>
                </a:cubicBezTo>
                <a:close/>
                <a:moveTo>
                  <a:pt x="88581" y="-17921"/>
                </a:moveTo>
                <a:lnTo>
                  <a:pt x="98900" y="-15164"/>
                </a:lnTo>
                <a:cubicBezTo>
                  <a:pt x="103666" y="-13864"/>
                  <a:pt x="106895" y="-9374"/>
                  <a:pt x="106580" y="-4451"/>
                </a:cubicBezTo>
                <a:lnTo>
                  <a:pt x="105517" y="12013"/>
                </a:lnTo>
                <a:cubicBezTo>
                  <a:pt x="108786" y="14534"/>
                  <a:pt x="111661" y="17448"/>
                  <a:pt x="114142" y="20678"/>
                </a:cubicBezTo>
                <a:lnTo>
                  <a:pt x="130685" y="19615"/>
                </a:lnTo>
                <a:cubicBezTo>
                  <a:pt x="135608" y="19299"/>
                  <a:pt x="140098" y="22529"/>
                  <a:pt x="141398" y="27295"/>
                </a:cubicBezTo>
                <a:lnTo>
                  <a:pt x="144155" y="37614"/>
                </a:lnTo>
                <a:cubicBezTo>
                  <a:pt x="145415" y="42380"/>
                  <a:pt x="143170" y="47422"/>
                  <a:pt x="138720" y="49627"/>
                </a:cubicBezTo>
                <a:lnTo>
                  <a:pt x="123871" y="56953"/>
                </a:lnTo>
                <a:cubicBezTo>
                  <a:pt x="123595" y="58962"/>
                  <a:pt x="123201" y="60971"/>
                  <a:pt x="122689" y="62940"/>
                </a:cubicBezTo>
                <a:cubicBezTo>
                  <a:pt x="122177" y="64909"/>
                  <a:pt x="121468" y="66878"/>
                  <a:pt x="120720" y="68730"/>
                </a:cubicBezTo>
                <a:lnTo>
                  <a:pt x="129897" y="82515"/>
                </a:lnTo>
                <a:cubicBezTo>
                  <a:pt x="132654" y="86651"/>
                  <a:pt x="132103" y="92125"/>
                  <a:pt x="128597" y="95631"/>
                </a:cubicBezTo>
                <a:lnTo>
                  <a:pt x="121035" y="103193"/>
                </a:lnTo>
                <a:cubicBezTo>
                  <a:pt x="117530" y="106698"/>
                  <a:pt x="112055" y="107250"/>
                  <a:pt x="107919" y="104493"/>
                </a:cubicBezTo>
                <a:lnTo>
                  <a:pt x="94134" y="95316"/>
                </a:lnTo>
                <a:cubicBezTo>
                  <a:pt x="90392" y="96852"/>
                  <a:pt x="86414" y="97955"/>
                  <a:pt x="82357" y="98506"/>
                </a:cubicBezTo>
                <a:lnTo>
                  <a:pt x="75032" y="113315"/>
                </a:lnTo>
                <a:cubicBezTo>
                  <a:pt x="72826" y="117766"/>
                  <a:pt x="67784" y="120011"/>
                  <a:pt x="63019" y="118751"/>
                </a:cubicBezTo>
                <a:lnTo>
                  <a:pt x="52699" y="115994"/>
                </a:lnTo>
                <a:cubicBezTo>
                  <a:pt x="47894" y="114694"/>
                  <a:pt x="44704" y="110204"/>
                  <a:pt x="45019" y="105280"/>
                </a:cubicBezTo>
                <a:lnTo>
                  <a:pt x="46082" y="88777"/>
                </a:lnTo>
                <a:cubicBezTo>
                  <a:pt x="42813" y="86257"/>
                  <a:pt x="39938" y="83342"/>
                  <a:pt x="37457" y="80112"/>
                </a:cubicBezTo>
                <a:lnTo>
                  <a:pt x="20914" y="81176"/>
                </a:lnTo>
                <a:cubicBezTo>
                  <a:pt x="15991" y="81491"/>
                  <a:pt x="11501" y="78261"/>
                  <a:pt x="10201" y="73495"/>
                </a:cubicBezTo>
                <a:lnTo>
                  <a:pt x="7444" y="63176"/>
                </a:lnTo>
                <a:cubicBezTo>
                  <a:pt x="6184" y="58410"/>
                  <a:pt x="8429" y="53369"/>
                  <a:pt x="12879" y="51163"/>
                </a:cubicBezTo>
                <a:lnTo>
                  <a:pt x="27728" y="43837"/>
                </a:lnTo>
                <a:cubicBezTo>
                  <a:pt x="28004" y="41829"/>
                  <a:pt x="28398" y="39859"/>
                  <a:pt x="28910" y="37851"/>
                </a:cubicBezTo>
                <a:cubicBezTo>
                  <a:pt x="29461" y="35842"/>
                  <a:pt x="30091" y="33912"/>
                  <a:pt x="30879" y="32061"/>
                </a:cubicBezTo>
                <a:lnTo>
                  <a:pt x="21702" y="18315"/>
                </a:lnTo>
                <a:cubicBezTo>
                  <a:pt x="18945" y="14179"/>
                  <a:pt x="19496" y="8704"/>
                  <a:pt x="23002" y="5199"/>
                </a:cubicBezTo>
                <a:lnTo>
                  <a:pt x="30564" y="-2363"/>
                </a:lnTo>
                <a:cubicBezTo>
                  <a:pt x="34069" y="-5869"/>
                  <a:pt x="39544" y="-6420"/>
                  <a:pt x="43680" y="-3663"/>
                </a:cubicBezTo>
                <a:lnTo>
                  <a:pt x="57465" y="5514"/>
                </a:lnTo>
                <a:cubicBezTo>
                  <a:pt x="61207" y="3978"/>
                  <a:pt x="65185" y="2875"/>
                  <a:pt x="69242" y="2324"/>
                </a:cubicBezTo>
                <a:lnTo>
                  <a:pt x="76568" y="-12486"/>
                </a:lnTo>
                <a:cubicBezTo>
                  <a:pt x="78773" y="-16936"/>
                  <a:pt x="83775" y="-19181"/>
                  <a:pt x="88581" y="-17921"/>
                </a:cubicBezTo>
                <a:close/>
                <a:moveTo>
                  <a:pt x="75780" y="33085"/>
                </a:moveTo>
                <a:cubicBezTo>
                  <a:pt x="66215" y="33085"/>
                  <a:pt x="58450" y="40850"/>
                  <a:pt x="58450" y="50415"/>
                </a:cubicBezTo>
                <a:cubicBezTo>
                  <a:pt x="58450" y="59980"/>
                  <a:pt x="66215" y="67745"/>
                  <a:pt x="75780" y="67745"/>
                </a:cubicBezTo>
                <a:cubicBezTo>
                  <a:pt x="85345" y="67745"/>
                  <a:pt x="93110" y="59980"/>
                  <a:pt x="93110" y="50415"/>
                </a:cubicBezTo>
                <a:cubicBezTo>
                  <a:pt x="93110" y="40850"/>
                  <a:pt x="85345" y="33085"/>
                  <a:pt x="75780" y="3308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1075518" y="1428422"/>
            <a:ext cx="1588069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Feasibility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149" y="1915766"/>
            <a:ext cx="3411407" cy="1075518"/>
          </a:xfrm>
          <a:custGeom>
            <a:avLst/>
            <a:gdLst/>
            <a:ahLst/>
            <a:cxnLst/>
            <a:rect l="l" t="t" r="r" b="b"/>
            <a:pathLst>
              <a:path w="3411407" h="1075518">
                <a:moveTo>
                  <a:pt x="67220" y="0"/>
                </a:moveTo>
                <a:lnTo>
                  <a:pt x="3344187" y="0"/>
                </a:lnTo>
                <a:cubicBezTo>
                  <a:pt x="3381312" y="0"/>
                  <a:pt x="3411407" y="30095"/>
                  <a:pt x="3411407" y="67220"/>
                </a:cubicBezTo>
                <a:lnTo>
                  <a:pt x="3411407" y="1008298"/>
                </a:lnTo>
                <a:cubicBezTo>
                  <a:pt x="3411407" y="1045422"/>
                  <a:pt x="3381312" y="1075518"/>
                  <a:pt x="3344187" y="1075518"/>
                </a:cubicBezTo>
                <a:lnTo>
                  <a:pt x="67220" y="1075518"/>
                </a:lnTo>
                <a:cubicBezTo>
                  <a:pt x="30095" y="1075518"/>
                  <a:pt x="0" y="1045422"/>
                  <a:pt x="0" y="1008298"/>
                </a:cubicBezTo>
                <a:lnTo>
                  <a:pt x="0" y="67220"/>
                </a:lnTo>
                <a:cubicBezTo>
                  <a:pt x="0" y="30095"/>
                  <a:pt x="30095" y="0"/>
                  <a:pt x="67220" y="0"/>
                </a:cubicBezTo>
                <a:close/>
              </a:path>
            </a:pathLst>
          </a:custGeom>
          <a:solidFill>
            <a:srgbClr val="4A7C59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1784" y="2050205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840248" y="2016595"/>
            <a:ext cx="126877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Technologies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4979" y="2285475"/>
            <a:ext cx="3276968" cy="604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React, Firebase, and Leaflet are mature, well-documented technologies with strong community support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149" y="3092113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4A7C59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1784" y="3226553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6" name="Text 14"/>
          <p:cNvSpPr/>
          <p:nvPr/>
        </p:nvSpPr>
        <p:spPr>
          <a:xfrm>
            <a:off x="840248" y="3192943"/>
            <a:ext cx="130238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4979" y="3461822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 design allows horizontal scaling to handle increasing user loads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149" y="4066801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4A7C59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21784" y="4201241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840248" y="4167631"/>
            <a:ext cx="127717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Capability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4979" y="4436510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Firebase's real-time database ensures instant data synchronization across all users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19831" y="1125932"/>
            <a:ext cx="3747507" cy="3982776"/>
          </a:xfrm>
          <a:custGeom>
            <a:avLst/>
            <a:gdLst/>
            <a:ahLst/>
            <a:cxnLst/>
            <a:rect l="l" t="t" r="r" b="b"/>
            <a:pathLst>
              <a:path w="3747507" h="3982776">
                <a:moveTo>
                  <a:pt x="33610" y="0"/>
                </a:moveTo>
                <a:lnTo>
                  <a:pt x="3713897" y="0"/>
                </a:lnTo>
                <a:cubicBezTo>
                  <a:pt x="3732459" y="0"/>
                  <a:pt x="3747507" y="15048"/>
                  <a:pt x="3747507" y="33610"/>
                </a:cubicBezTo>
                <a:lnTo>
                  <a:pt x="3747507" y="3881931"/>
                </a:lnTo>
                <a:cubicBezTo>
                  <a:pt x="3747507" y="3937626"/>
                  <a:pt x="3702357" y="3982776"/>
                  <a:pt x="3646661" y="3982776"/>
                </a:cubicBezTo>
                <a:lnTo>
                  <a:pt x="100845" y="3982776"/>
                </a:lnTo>
                <a:cubicBezTo>
                  <a:pt x="45150" y="3982776"/>
                  <a:pt x="0" y="3937626"/>
                  <a:pt x="0" y="388193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6037" dist="84025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19831" y="1125932"/>
            <a:ext cx="3747507" cy="33610"/>
          </a:xfrm>
          <a:custGeom>
            <a:avLst/>
            <a:gdLst/>
            <a:ahLst/>
            <a:cxnLst/>
            <a:rect l="l" t="t" r="r" b="b"/>
            <a:pathLst>
              <a:path w="3747507" h="33610">
                <a:moveTo>
                  <a:pt x="33610" y="0"/>
                </a:moveTo>
                <a:lnTo>
                  <a:pt x="3713897" y="0"/>
                </a:lnTo>
                <a:cubicBezTo>
                  <a:pt x="3732459" y="0"/>
                  <a:pt x="3747507" y="15048"/>
                  <a:pt x="3747507" y="33610"/>
                </a:cubicBezTo>
                <a:lnTo>
                  <a:pt x="3747507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7881" y="1310787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97113" y="1445227"/>
            <a:ext cx="252074" cy="201660"/>
          </a:xfrm>
          <a:custGeom>
            <a:avLst/>
            <a:gdLst/>
            <a:ahLst/>
            <a:cxnLst/>
            <a:rect l="l" t="t" r="r" b="b"/>
            <a:pathLst>
              <a:path w="252074" h="201660">
                <a:moveTo>
                  <a:pt x="126037" y="88226"/>
                </a:moveTo>
                <a:cubicBezTo>
                  <a:pt x="148645" y="88226"/>
                  <a:pt x="166999" y="69872"/>
                  <a:pt x="166999" y="47264"/>
                </a:cubicBezTo>
                <a:cubicBezTo>
                  <a:pt x="166999" y="24656"/>
                  <a:pt x="148645" y="6302"/>
                  <a:pt x="126037" y="6302"/>
                </a:cubicBezTo>
                <a:cubicBezTo>
                  <a:pt x="103430" y="6302"/>
                  <a:pt x="85075" y="24656"/>
                  <a:pt x="85075" y="47264"/>
                </a:cubicBezTo>
                <a:cubicBezTo>
                  <a:pt x="85075" y="69872"/>
                  <a:pt x="103430" y="88226"/>
                  <a:pt x="126037" y="88226"/>
                </a:cubicBezTo>
                <a:close/>
                <a:moveTo>
                  <a:pt x="37811" y="91377"/>
                </a:moveTo>
                <a:cubicBezTo>
                  <a:pt x="53463" y="91377"/>
                  <a:pt x="66170" y="78670"/>
                  <a:pt x="66170" y="63019"/>
                </a:cubicBezTo>
                <a:cubicBezTo>
                  <a:pt x="66170" y="47367"/>
                  <a:pt x="53463" y="34660"/>
                  <a:pt x="37811" y="34660"/>
                </a:cubicBezTo>
                <a:cubicBezTo>
                  <a:pt x="22160" y="34660"/>
                  <a:pt x="9453" y="47367"/>
                  <a:pt x="9453" y="63019"/>
                </a:cubicBezTo>
                <a:cubicBezTo>
                  <a:pt x="9453" y="78670"/>
                  <a:pt x="22160" y="91377"/>
                  <a:pt x="37811" y="91377"/>
                </a:cubicBezTo>
                <a:close/>
                <a:moveTo>
                  <a:pt x="0" y="163848"/>
                </a:moveTo>
                <a:lnTo>
                  <a:pt x="0" y="176452"/>
                </a:lnTo>
                <a:cubicBezTo>
                  <a:pt x="0" y="183424"/>
                  <a:pt x="5632" y="189056"/>
                  <a:pt x="12604" y="189056"/>
                </a:cubicBezTo>
                <a:lnTo>
                  <a:pt x="46752" y="189056"/>
                </a:lnTo>
                <a:cubicBezTo>
                  <a:pt x="45058" y="185196"/>
                  <a:pt x="44113" y="180942"/>
                  <a:pt x="44113" y="176452"/>
                </a:cubicBezTo>
                <a:lnTo>
                  <a:pt x="44113" y="170150"/>
                </a:lnTo>
                <a:cubicBezTo>
                  <a:pt x="44113" y="149197"/>
                  <a:pt x="51990" y="130055"/>
                  <a:pt x="64949" y="115560"/>
                </a:cubicBezTo>
                <a:cubicBezTo>
                  <a:pt x="60340" y="114182"/>
                  <a:pt x="55456" y="113433"/>
                  <a:pt x="50415" y="113433"/>
                </a:cubicBezTo>
                <a:cubicBezTo>
                  <a:pt x="22569" y="113433"/>
                  <a:pt x="0" y="136002"/>
                  <a:pt x="0" y="163848"/>
                </a:cubicBezTo>
                <a:close/>
                <a:moveTo>
                  <a:pt x="242622" y="63019"/>
                </a:moveTo>
                <a:cubicBezTo>
                  <a:pt x="242622" y="47367"/>
                  <a:pt x="229915" y="34660"/>
                  <a:pt x="214263" y="34660"/>
                </a:cubicBezTo>
                <a:cubicBezTo>
                  <a:pt x="198612" y="34660"/>
                  <a:pt x="185905" y="47367"/>
                  <a:pt x="185905" y="63019"/>
                </a:cubicBezTo>
                <a:cubicBezTo>
                  <a:pt x="185905" y="78670"/>
                  <a:pt x="198612" y="91377"/>
                  <a:pt x="214263" y="91377"/>
                </a:cubicBezTo>
                <a:cubicBezTo>
                  <a:pt x="229915" y="91377"/>
                  <a:pt x="242622" y="78670"/>
                  <a:pt x="242622" y="63019"/>
                </a:cubicBezTo>
                <a:close/>
                <a:moveTo>
                  <a:pt x="63019" y="170150"/>
                </a:moveTo>
                <a:lnTo>
                  <a:pt x="63019" y="176452"/>
                </a:lnTo>
                <a:cubicBezTo>
                  <a:pt x="63019" y="183424"/>
                  <a:pt x="68651" y="189056"/>
                  <a:pt x="75622" y="189056"/>
                </a:cubicBezTo>
                <a:lnTo>
                  <a:pt x="137381" y="189056"/>
                </a:lnTo>
                <a:cubicBezTo>
                  <a:pt x="134584" y="180548"/>
                  <a:pt x="134899" y="171568"/>
                  <a:pt x="141595" y="163848"/>
                </a:cubicBezTo>
                <a:cubicBezTo>
                  <a:pt x="136081" y="157468"/>
                  <a:pt x="133521" y="148212"/>
                  <a:pt x="137105" y="138917"/>
                </a:cubicBezTo>
                <a:cubicBezTo>
                  <a:pt x="139704" y="132182"/>
                  <a:pt x="143367" y="125880"/>
                  <a:pt x="147897" y="120287"/>
                </a:cubicBezTo>
                <a:cubicBezTo>
                  <a:pt x="150024" y="117687"/>
                  <a:pt x="152466" y="115679"/>
                  <a:pt x="155105" y="114221"/>
                </a:cubicBezTo>
                <a:cubicBezTo>
                  <a:pt x="146400" y="109692"/>
                  <a:pt x="136514" y="107132"/>
                  <a:pt x="126037" y="107132"/>
                </a:cubicBezTo>
                <a:cubicBezTo>
                  <a:pt x="91219" y="107132"/>
                  <a:pt x="63019" y="135332"/>
                  <a:pt x="63019" y="170150"/>
                </a:cubicBezTo>
                <a:close/>
                <a:moveTo>
                  <a:pt x="246009" y="152781"/>
                </a:moveTo>
                <a:cubicBezTo>
                  <a:pt x="248490" y="151363"/>
                  <a:pt x="249751" y="148409"/>
                  <a:pt x="248687" y="145691"/>
                </a:cubicBezTo>
                <a:cubicBezTo>
                  <a:pt x="246797" y="140807"/>
                  <a:pt x="244158" y="136199"/>
                  <a:pt x="240849" y="132142"/>
                </a:cubicBezTo>
                <a:cubicBezTo>
                  <a:pt x="239037" y="129897"/>
                  <a:pt x="235847" y="129503"/>
                  <a:pt x="233366" y="130961"/>
                </a:cubicBezTo>
                <a:cubicBezTo>
                  <a:pt x="224779" y="135923"/>
                  <a:pt x="214224" y="129858"/>
                  <a:pt x="214224" y="119893"/>
                </a:cubicBezTo>
                <a:cubicBezTo>
                  <a:pt x="214224" y="117018"/>
                  <a:pt x="212294" y="114458"/>
                  <a:pt x="209458" y="114024"/>
                </a:cubicBezTo>
                <a:cubicBezTo>
                  <a:pt x="204377" y="113237"/>
                  <a:pt x="198902" y="113237"/>
                  <a:pt x="193822" y="114024"/>
                </a:cubicBezTo>
                <a:cubicBezTo>
                  <a:pt x="190986" y="114458"/>
                  <a:pt x="189056" y="117018"/>
                  <a:pt x="189056" y="119893"/>
                </a:cubicBezTo>
                <a:cubicBezTo>
                  <a:pt x="189056" y="129818"/>
                  <a:pt x="178500" y="135923"/>
                  <a:pt x="169914" y="130961"/>
                </a:cubicBezTo>
                <a:cubicBezTo>
                  <a:pt x="167433" y="129543"/>
                  <a:pt x="164242" y="129936"/>
                  <a:pt x="162430" y="132142"/>
                </a:cubicBezTo>
                <a:cubicBezTo>
                  <a:pt x="159122" y="136199"/>
                  <a:pt x="156483" y="140807"/>
                  <a:pt x="154593" y="145691"/>
                </a:cubicBezTo>
                <a:cubicBezTo>
                  <a:pt x="153568" y="148369"/>
                  <a:pt x="154789" y="151323"/>
                  <a:pt x="157271" y="152741"/>
                </a:cubicBezTo>
                <a:cubicBezTo>
                  <a:pt x="165896" y="157704"/>
                  <a:pt x="165896" y="169875"/>
                  <a:pt x="157271" y="174877"/>
                </a:cubicBezTo>
                <a:cubicBezTo>
                  <a:pt x="154789" y="176295"/>
                  <a:pt x="153529" y="179249"/>
                  <a:pt x="154593" y="181927"/>
                </a:cubicBezTo>
                <a:cubicBezTo>
                  <a:pt x="156483" y="186811"/>
                  <a:pt x="159122" y="191419"/>
                  <a:pt x="162430" y="195476"/>
                </a:cubicBezTo>
                <a:cubicBezTo>
                  <a:pt x="164242" y="197721"/>
                  <a:pt x="167433" y="198115"/>
                  <a:pt x="169914" y="196657"/>
                </a:cubicBezTo>
                <a:cubicBezTo>
                  <a:pt x="178500" y="191695"/>
                  <a:pt x="189056" y="197800"/>
                  <a:pt x="189056" y="207725"/>
                </a:cubicBezTo>
                <a:cubicBezTo>
                  <a:pt x="189056" y="210600"/>
                  <a:pt x="190986" y="213160"/>
                  <a:pt x="193822" y="213594"/>
                </a:cubicBezTo>
                <a:cubicBezTo>
                  <a:pt x="198902" y="214381"/>
                  <a:pt x="204377" y="214381"/>
                  <a:pt x="209458" y="213594"/>
                </a:cubicBezTo>
                <a:cubicBezTo>
                  <a:pt x="212294" y="213160"/>
                  <a:pt x="214224" y="210600"/>
                  <a:pt x="214224" y="207725"/>
                </a:cubicBezTo>
                <a:cubicBezTo>
                  <a:pt x="214224" y="197800"/>
                  <a:pt x="224779" y="191695"/>
                  <a:pt x="233366" y="196657"/>
                </a:cubicBezTo>
                <a:cubicBezTo>
                  <a:pt x="235847" y="198075"/>
                  <a:pt x="239037" y="197681"/>
                  <a:pt x="240849" y="195476"/>
                </a:cubicBezTo>
                <a:cubicBezTo>
                  <a:pt x="244158" y="191419"/>
                  <a:pt x="246797" y="186811"/>
                  <a:pt x="248687" y="181927"/>
                </a:cubicBezTo>
                <a:cubicBezTo>
                  <a:pt x="249711" y="179249"/>
                  <a:pt x="248490" y="176295"/>
                  <a:pt x="246009" y="174877"/>
                </a:cubicBezTo>
                <a:cubicBezTo>
                  <a:pt x="237383" y="169914"/>
                  <a:pt x="237383" y="157743"/>
                  <a:pt x="246009" y="152741"/>
                </a:cubicBezTo>
                <a:close/>
                <a:moveTo>
                  <a:pt x="185905" y="163848"/>
                </a:moveTo>
                <a:cubicBezTo>
                  <a:pt x="185905" y="155153"/>
                  <a:pt x="192964" y="148094"/>
                  <a:pt x="201660" y="148094"/>
                </a:cubicBezTo>
                <a:cubicBezTo>
                  <a:pt x="210355" y="148094"/>
                  <a:pt x="217414" y="155153"/>
                  <a:pt x="217414" y="163848"/>
                </a:cubicBezTo>
                <a:cubicBezTo>
                  <a:pt x="217414" y="172544"/>
                  <a:pt x="210355" y="179603"/>
                  <a:pt x="201660" y="179603"/>
                </a:cubicBezTo>
                <a:cubicBezTo>
                  <a:pt x="192964" y="179603"/>
                  <a:pt x="185905" y="172544"/>
                  <a:pt x="185905" y="163848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6" name="Text 24"/>
          <p:cNvSpPr/>
          <p:nvPr/>
        </p:nvSpPr>
        <p:spPr>
          <a:xfrm>
            <a:off x="4959250" y="1428422"/>
            <a:ext cx="1730911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Feasibility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7881" y="1949376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05516" y="2083815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9" name="Text 27"/>
          <p:cNvSpPr/>
          <p:nvPr/>
        </p:nvSpPr>
        <p:spPr>
          <a:xfrm>
            <a:off x="4723980" y="2050205"/>
            <a:ext cx="93267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UI/UX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8711" y="2319085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user-friendly interface requires minimal training for both citizens and administrators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7881" y="2991283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05516" y="3125723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3" name="Text 31"/>
          <p:cNvSpPr/>
          <p:nvPr/>
        </p:nvSpPr>
        <p:spPr>
          <a:xfrm>
            <a:off x="4723980" y="3092113"/>
            <a:ext cx="99989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Accounts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8711" y="3360992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Pre-configured demo accounts enable immediate platform exploration without registration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7881" y="4033191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05516" y="4167631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7" name="Text 35"/>
          <p:cNvSpPr/>
          <p:nvPr/>
        </p:nvSpPr>
        <p:spPr>
          <a:xfrm>
            <a:off x="4723980" y="4134021"/>
            <a:ext cx="11595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Responsive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88711" y="4402900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seamlessly across devices, enabling on-the-go complaint submission and management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3668" y="1125932"/>
            <a:ext cx="3747507" cy="3982776"/>
          </a:xfrm>
          <a:custGeom>
            <a:avLst/>
            <a:gdLst/>
            <a:ahLst/>
            <a:cxnLst/>
            <a:rect l="l" t="t" r="r" b="b"/>
            <a:pathLst>
              <a:path w="3747507" h="3982776">
                <a:moveTo>
                  <a:pt x="33610" y="0"/>
                </a:moveTo>
                <a:lnTo>
                  <a:pt x="3713897" y="0"/>
                </a:lnTo>
                <a:cubicBezTo>
                  <a:pt x="3732459" y="0"/>
                  <a:pt x="3747507" y="15048"/>
                  <a:pt x="3747507" y="33610"/>
                </a:cubicBezTo>
                <a:lnTo>
                  <a:pt x="3747507" y="3881931"/>
                </a:lnTo>
                <a:cubicBezTo>
                  <a:pt x="3747507" y="3937626"/>
                  <a:pt x="3702357" y="3982776"/>
                  <a:pt x="3646661" y="3982776"/>
                </a:cubicBezTo>
                <a:lnTo>
                  <a:pt x="100845" y="3982776"/>
                </a:lnTo>
                <a:cubicBezTo>
                  <a:pt x="45150" y="3982776"/>
                  <a:pt x="0" y="3937626"/>
                  <a:pt x="0" y="3881931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6037" dist="84025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03668" y="1125932"/>
            <a:ext cx="3747507" cy="33610"/>
          </a:xfrm>
          <a:custGeom>
            <a:avLst/>
            <a:gdLst/>
            <a:ahLst/>
            <a:cxnLst/>
            <a:rect l="l" t="t" r="r" b="b"/>
            <a:pathLst>
              <a:path w="3747507" h="33610">
                <a:moveTo>
                  <a:pt x="33610" y="0"/>
                </a:moveTo>
                <a:lnTo>
                  <a:pt x="3713897" y="0"/>
                </a:lnTo>
                <a:cubicBezTo>
                  <a:pt x="3732459" y="0"/>
                  <a:pt x="3747507" y="15048"/>
                  <a:pt x="3747507" y="33610"/>
                </a:cubicBezTo>
                <a:lnTo>
                  <a:pt x="3747507" y="33610"/>
                </a:lnTo>
                <a:lnTo>
                  <a:pt x="0" y="33610"/>
                </a:ln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1" name="Shape 39"/>
          <p:cNvSpPr/>
          <p:nvPr/>
        </p:nvSpPr>
        <p:spPr>
          <a:xfrm>
            <a:off x="8271717" y="1310787"/>
            <a:ext cx="470539" cy="470539"/>
          </a:xfrm>
          <a:custGeom>
            <a:avLst/>
            <a:gdLst/>
            <a:ahLst/>
            <a:cxnLst/>
            <a:rect l="l" t="t" r="r" b="b"/>
            <a:pathLst>
              <a:path w="470539" h="470539">
                <a:moveTo>
                  <a:pt x="100832" y="0"/>
                </a:moveTo>
                <a:lnTo>
                  <a:pt x="369707" y="0"/>
                </a:lnTo>
                <a:cubicBezTo>
                  <a:pt x="425358" y="0"/>
                  <a:pt x="470539" y="45181"/>
                  <a:pt x="470539" y="100832"/>
                </a:cubicBezTo>
                <a:lnTo>
                  <a:pt x="470539" y="369707"/>
                </a:lnTo>
                <a:cubicBezTo>
                  <a:pt x="470539" y="425358"/>
                  <a:pt x="425358" y="470539"/>
                  <a:pt x="369707" y="470539"/>
                </a:cubicBezTo>
                <a:lnTo>
                  <a:pt x="100832" y="470539"/>
                </a:lnTo>
                <a:cubicBezTo>
                  <a:pt x="45181" y="470539"/>
                  <a:pt x="0" y="425358"/>
                  <a:pt x="0" y="369707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solidFill>
            <a:srgbClr val="F7B538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06157" y="1445227"/>
            <a:ext cx="201660" cy="201660"/>
          </a:xfrm>
          <a:custGeom>
            <a:avLst/>
            <a:gdLst/>
            <a:ahLst/>
            <a:cxnLst/>
            <a:rect l="l" t="t" r="r" b="b"/>
            <a:pathLst>
              <a:path w="201660" h="201660">
                <a:moveTo>
                  <a:pt x="25207" y="25207"/>
                </a:moveTo>
                <a:cubicBezTo>
                  <a:pt x="25207" y="18236"/>
                  <a:pt x="19575" y="12604"/>
                  <a:pt x="12604" y="12604"/>
                </a:cubicBezTo>
                <a:cubicBezTo>
                  <a:pt x="5632" y="12604"/>
                  <a:pt x="0" y="18236"/>
                  <a:pt x="0" y="25207"/>
                </a:cubicBezTo>
                <a:lnTo>
                  <a:pt x="0" y="157547"/>
                </a:lnTo>
                <a:cubicBezTo>
                  <a:pt x="0" y="174955"/>
                  <a:pt x="14100" y="189056"/>
                  <a:pt x="31509" y="189056"/>
                </a:cubicBezTo>
                <a:lnTo>
                  <a:pt x="189056" y="189056"/>
                </a:lnTo>
                <a:cubicBezTo>
                  <a:pt x="196027" y="189056"/>
                  <a:pt x="201660" y="183424"/>
                  <a:pt x="201660" y="176452"/>
                </a:cubicBezTo>
                <a:cubicBezTo>
                  <a:pt x="201660" y="169481"/>
                  <a:pt x="196027" y="163848"/>
                  <a:pt x="189056" y="163848"/>
                </a:cubicBezTo>
                <a:lnTo>
                  <a:pt x="31509" y="163848"/>
                </a:lnTo>
                <a:cubicBezTo>
                  <a:pt x="28043" y="163848"/>
                  <a:pt x="25207" y="161013"/>
                  <a:pt x="25207" y="157547"/>
                </a:cubicBezTo>
                <a:lnTo>
                  <a:pt x="25207" y="25207"/>
                </a:lnTo>
                <a:close/>
                <a:moveTo>
                  <a:pt x="185353" y="59316"/>
                </a:moveTo>
                <a:cubicBezTo>
                  <a:pt x="190277" y="54393"/>
                  <a:pt x="190277" y="46397"/>
                  <a:pt x="185353" y="41474"/>
                </a:cubicBezTo>
                <a:cubicBezTo>
                  <a:pt x="180430" y="36551"/>
                  <a:pt x="172435" y="36551"/>
                  <a:pt x="167511" y="41474"/>
                </a:cubicBezTo>
                <a:lnTo>
                  <a:pt x="126037" y="82988"/>
                </a:lnTo>
                <a:lnTo>
                  <a:pt x="103429" y="60419"/>
                </a:lnTo>
                <a:cubicBezTo>
                  <a:pt x="98506" y="55496"/>
                  <a:pt x="90510" y="55496"/>
                  <a:pt x="85587" y="60419"/>
                </a:cubicBezTo>
                <a:lnTo>
                  <a:pt x="47776" y="98230"/>
                </a:lnTo>
                <a:cubicBezTo>
                  <a:pt x="42853" y="103154"/>
                  <a:pt x="42853" y="111149"/>
                  <a:pt x="47776" y="116072"/>
                </a:cubicBezTo>
                <a:cubicBezTo>
                  <a:pt x="52699" y="120996"/>
                  <a:pt x="60695" y="120996"/>
                  <a:pt x="65618" y="116072"/>
                </a:cubicBezTo>
                <a:lnTo>
                  <a:pt x="94528" y="87163"/>
                </a:lnTo>
                <a:lnTo>
                  <a:pt x="117136" y="109771"/>
                </a:lnTo>
                <a:cubicBezTo>
                  <a:pt x="122059" y="114694"/>
                  <a:pt x="130055" y="114694"/>
                  <a:pt x="134978" y="109771"/>
                </a:cubicBezTo>
                <a:lnTo>
                  <a:pt x="185393" y="59356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3" name="Text 41"/>
          <p:cNvSpPr/>
          <p:nvPr/>
        </p:nvSpPr>
        <p:spPr>
          <a:xfrm>
            <a:off x="8843086" y="1428422"/>
            <a:ext cx="1453629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Viability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1717" y="1949376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F7B538">
              <a:alpha val="5098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14560" y="2083815"/>
            <a:ext cx="84025" cy="134440"/>
          </a:xfrm>
          <a:custGeom>
            <a:avLst/>
            <a:gdLst/>
            <a:ahLst/>
            <a:cxnLst/>
            <a:rect l="l" t="t" r="r" b="b"/>
            <a:pathLst>
              <a:path w="84025" h="134440">
                <a:moveTo>
                  <a:pt x="35711" y="6302"/>
                </a:moveTo>
                <a:cubicBezTo>
                  <a:pt x="35711" y="2810"/>
                  <a:pt x="38520" y="0"/>
                  <a:pt x="42012" y="0"/>
                </a:cubicBezTo>
                <a:cubicBezTo>
                  <a:pt x="45505" y="0"/>
                  <a:pt x="48314" y="2810"/>
                  <a:pt x="48314" y="6302"/>
                </a:cubicBezTo>
                <a:lnTo>
                  <a:pt x="48314" y="16805"/>
                </a:lnTo>
                <a:lnTo>
                  <a:pt x="63019" y="16805"/>
                </a:lnTo>
                <a:cubicBezTo>
                  <a:pt x="67666" y="16805"/>
                  <a:pt x="71421" y="20560"/>
                  <a:pt x="71421" y="25207"/>
                </a:cubicBezTo>
                <a:cubicBezTo>
                  <a:pt x="71421" y="29855"/>
                  <a:pt x="67666" y="33610"/>
                  <a:pt x="63019" y="33610"/>
                </a:cubicBezTo>
                <a:lnTo>
                  <a:pt x="32848" y="33610"/>
                </a:lnTo>
                <a:cubicBezTo>
                  <a:pt x="26310" y="33610"/>
                  <a:pt x="21006" y="38914"/>
                  <a:pt x="21006" y="45452"/>
                </a:cubicBezTo>
                <a:cubicBezTo>
                  <a:pt x="21006" y="51360"/>
                  <a:pt x="25339" y="56349"/>
                  <a:pt x="31168" y="57189"/>
                </a:cubicBezTo>
                <a:lnTo>
                  <a:pt x="55220" y="60629"/>
                </a:lnTo>
                <a:cubicBezTo>
                  <a:pt x="69347" y="62651"/>
                  <a:pt x="79824" y="74730"/>
                  <a:pt x="79824" y="88988"/>
                </a:cubicBezTo>
                <a:cubicBezTo>
                  <a:pt x="79824" y="104821"/>
                  <a:pt x="66984" y="117635"/>
                  <a:pt x="51176" y="117635"/>
                </a:cubicBezTo>
                <a:lnTo>
                  <a:pt x="48314" y="117635"/>
                </a:lnTo>
                <a:lnTo>
                  <a:pt x="48314" y="128138"/>
                </a:lnTo>
                <a:cubicBezTo>
                  <a:pt x="48314" y="131630"/>
                  <a:pt x="45505" y="134440"/>
                  <a:pt x="42012" y="134440"/>
                </a:cubicBezTo>
                <a:cubicBezTo>
                  <a:pt x="38520" y="134440"/>
                  <a:pt x="35711" y="131630"/>
                  <a:pt x="35711" y="128138"/>
                </a:cubicBezTo>
                <a:lnTo>
                  <a:pt x="35711" y="117635"/>
                </a:lnTo>
                <a:lnTo>
                  <a:pt x="16805" y="117635"/>
                </a:lnTo>
                <a:cubicBezTo>
                  <a:pt x="12157" y="117635"/>
                  <a:pt x="8402" y="113880"/>
                  <a:pt x="8402" y="109232"/>
                </a:cubicBezTo>
                <a:cubicBezTo>
                  <a:pt x="8402" y="104585"/>
                  <a:pt x="12157" y="100830"/>
                  <a:pt x="16805" y="100830"/>
                </a:cubicBezTo>
                <a:lnTo>
                  <a:pt x="51176" y="100830"/>
                </a:lnTo>
                <a:cubicBezTo>
                  <a:pt x="57715" y="100830"/>
                  <a:pt x="63019" y="95526"/>
                  <a:pt x="63019" y="88988"/>
                </a:cubicBezTo>
                <a:cubicBezTo>
                  <a:pt x="63019" y="83080"/>
                  <a:pt x="58686" y="78091"/>
                  <a:pt x="52857" y="77250"/>
                </a:cubicBezTo>
                <a:lnTo>
                  <a:pt x="28805" y="73811"/>
                </a:lnTo>
                <a:cubicBezTo>
                  <a:pt x="14678" y="71815"/>
                  <a:pt x="4201" y="59710"/>
                  <a:pt x="4201" y="45452"/>
                </a:cubicBezTo>
                <a:cubicBezTo>
                  <a:pt x="4201" y="29645"/>
                  <a:pt x="17041" y="16805"/>
                  <a:pt x="32848" y="16805"/>
                </a:cubicBezTo>
                <a:lnTo>
                  <a:pt x="35711" y="16805"/>
                </a:lnTo>
                <a:lnTo>
                  <a:pt x="35711" y="6302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6" name="Text 44"/>
          <p:cNvSpPr/>
          <p:nvPr/>
        </p:nvSpPr>
        <p:spPr>
          <a:xfrm>
            <a:off x="8607817" y="2050205"/>
            <a:ext cx="1436824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Infrastructure Cost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72547" y="2319085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services eliminate need for expensive on-premise servers and maintenance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1717" y="2991283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F7B538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14560" y="3125723"/>
            <a:ext cx="84025" cy="134440"/>
          </a:xfrm>
          <a:custGeom>
            <a:avLst/>
            <a:gdLst/>
            <a:ahLst/>
            <a:cxnLst/>
            <a:rect l="l" t="t" r="r" b="b"/>
            <a:pathLst>
              <a:path w="84025" h="134440">
                <a:moveTo>
                  <a:pt x="35711" y="6302"/>
                </a:moveTo>
                <a:cubicBezTo>
                  <a:pt x="35711" y="2810"/>
                  <a:pt x="38520" y="0"/>
                  <a:pt x="42012" y="0"/>
                </a:cubicBezTo>
                <a:cubicBezTo>
                  <a:pt x="45505" y="0"/>
                  <a:pt x="48314" y="2810"/>
                  <a:pt x="48314" y="6302"/>
                </a:cubicBezTo>
                <a:lnTo>
                  <a:pt x="48314" y="16805"/>
                </a:lnTo>
                <a:lnTo>
                  <a:pt x="63019" y="16805"/>
                </a:lnTo>
                <a:cubicBezTo>
                  <a:pt x="67666" y="16805"/>
                  <a:pt x="71421" y="20560"/>
                  <a:pt x="71421" y="25207"/>
                </a:cubicBezTo>
                <a:cubicBezTo>
                  <a:pt x="71421" y="29855"/>
                  <a:pt x="67666" y="33610"/>
                  <a:pt x="63019" y="33610"/>
                </a:cubicBezTo>
                <a:lnTo>
                  <a:pt x="32848" y="33610"/>
                </a:lnTo>
                <a:cubicBezTo>
                  <a:pt x="26310" y="33610"/>
                  <a:pt x="21006" y="38914"/>
                  <a:pt x="21006" y="45452"/>
                </a:cubicBezTo>
                <a:cubicBezTo>
                  <a:pt x="21006" y="51360"/>
                  <a:pt x="25339" y="56349"/>
                  <a:pt x="31168" y="57189"/>
                </a:cubicBezTo>
                <a:lnTo>
                  <a:pt x="55220" y="60629"/>
                </a:lnTo>
                <a:cubicBezTo>
                  <a:pt x="69347" y="62651"/>
                  <a:pt x="79824" y="74730"/>
                  <a:pt x="79824" y="88988"/>
                </a:cubicBezTo>
                <a:cubicBezTo>
                  <a:pt x="79824" y="104821"/>
                  <a:pt x="66984" y="117635"/>
                  <a:pt x="51176" y="117635"/>
                </a:cubicBezTo>
                <a:lnTo>
                  <a:pt x="48314" y="117635"/>
                </a:lnTo>
                <a:lnTo>
                  <a:pt x="48314" y="128138"/>
                </a:lnTo>
                <a:cubicBezTo>
                  <a:pt x="48314" y="131630"/>
                  <a:pt x="45505" y="134440"/>
                  <a:pt x="42012" y="134440"/>
                </a:cubicBezTo>
                <a:cubicBezTo>
                  <a:pt x="38520" y="134440"/>
                  <a:pt x="35711" y="131630"/>
                  <a:pt x="35711" y="128138"/>
                </a:cubicBezTo>
                <a:lnTo>
                  <a:pt x="35711" y="117635"/>
                </a:lnTo>
                <a:lnTo>
                  <a:pt x="16805" y="117635"/>
                </a:lnTo>
                <a:cubicBezTo>
                  <a:pt x="12157" y="117635"/>
                  <a:pt x="8402" y="113880"/>
                  <a:pt x="8402" y="109232"/>
                </a:cubicBezTo>
                <a:cubicBezTo>
                  <a:pt x="8402" y="104585"/>
                  <a:pt x="12157" y="100830"/>
                  <a:pt x="16805" y="100830"/>
                </a:cubicBezTo>
                <a:lnTo>
                  <a:pt x="51176" y="100830"/>
                </a:lnTo>
                <a:cubicBezTo>
                  <a:pt x="57715" y="100830"/>
                  <a:pt x="63019" y="95526"/>
                  <a:pt x="63019" y="88988"/>
                </a:cubicBezTo>
                <a:cubicBezTo>
                  <a:pt x="63019" y="83080"/>
                  <a:pt x="58686" y="78091"/>
                  <a:pt x="52857" y="77250"/>
                </a:cubicBezTo>
                <a:lnTo>
                  <a:pt x="28805" y="73811"/>
                </a:lnTo>
                <a:cubicBezTo>
                  <a:pt x="14678" y="71815"/>
                  <a:pt x="4201" y="59710"/>
                  <a:pt x="4201" y="45452"/>
                </a:cubicBezTo>
                <a:cubicBezTo>
                  <a:pt x="4201" y="29645"/>
                  <a:pt x="17041" y="16805"/>
                  <a:pt x="32848" y="16805"/>
                </a:cubicBezTo>
                <a:lnTo>
                  <a:pt x="35711" y="16805"/>
                </a:lnTo>
                <a:lnTo>
                  <a:pt x="35711" y="6302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0" name="Text 48"/>
          <p:cNvSpPr/>
          <p:nvPr/>
        </p:nvSpPr>
        <p:spPr>
          <a:xfrm>
            <a:off x="8607817" y="3092113"/>
            <a:ext cx="136120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Adoption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72547" y="3360992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Aligns with Digital India and Smart City initiatives, increasing adoption potential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1717" y="4033191"/>
            <a:ext cx="3411407" cy="873858"/>
          </a:xfrm>
          <a:custGeom>
            <a:avLst/>
            <a:gdLst/>
            <a:ahLst/>
            <a:cxnLst/>
            <a:rect l="l" t="t" r="r" b="b"/>
            <a:pathLst>
              <a:path w="3411407" h="873858">
                <a:moveTo>
                  <a:pt x="67217" y="0"/>
                </a:moveTo>
                <a:lnTo>
                  <a:pt x="3344190" y="0"/>
                </a:lnTo>
                <a:cubicBezTo>
                  <a:pt x="3381313" y="0"/>
                  <a:pt x="3411407" y="30094"/>
                  <a:pt x="3411407" y="67217"/>
                </a:cubicBezTo>
                <a:lnTo>
                  <a:pt x="3411407" y="806641"/>
                </a:lnTo>
                <a:cubicBezTo>
                  <a:pt x="3411407" y="843764"/>
                  <a:pt x="3381313" y="873858"/>
                  <a:pt x="3344190" y="873858"/>
                </a:cubicBezTo>
                <a:lnTo>
                  <a:pt x="67217" y="873858"/>
                </a:lnTo>
                <a:cubicBezTo>
                  <a:pt x="30094" y="873858"/>
                  <a:pt x="0" y="843764"/>
                  <a:pt x="0" y="80664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F7B538">
              <a:alpha val="5098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14560" y="4167631"/>
            <a:ext cx="84025" cy="134440"/>
          </a:xfrm>
          <a:custGeom>
            <a:avLst/>
            <a:gdLst/>
            <a:ahLst/>
            <a:cxnLst/>
            <a:rect l="l" t="t" r="r" b="b"/>
            <a:pathLst>
              <a:path w="84025" h="134440">
                <a:moveTo>
                  <a:pt x="35711" y="6302"/>
                </a:moveTo>
                <a:cubicBezTo>
                  <a:pt x="35711" y="2810"/>
                  <a:pt x="38520" y="0"/>
                  <a:pt x="42012" y="0"/>
                </a:cubicBezTo>
                <a:cubicBezTo>
                  <a:pt x="45505" y="0"/>
                  <a:pt x="48314" y="2810"/>
                  <a:pt x="48314" y="6302"/>
                </a:cubicBezTo>
                <a:lnTo>
                  <a:pt x="48314" y="16805"/>
                </a:lnTo>
                <a:lnTo>
                  <a:pt x="63019" y="16805"/>
                </a:lnTo>
                <a:cubicBezTo>
                  <a:pt x="67666" y="16805"/>
                  <a:pt x="71421" y="20560"/>
                  <a:pt x="71421" y="25207"/>
                </a:cubicBezTo>
                <a:cubicBezTo>
                  <a:pt x="71421" y="29855"/>
                  <a:pt x="67666" y="33610"/>
                  <a:pt x="63019" y="33610"/>
                </a:cubicBezTo>
                <a:lnTo>
                  <a:pt x="32848" y="33610"/>
                </a:lnTo>
                <a:cubicBezTo>
                  <a:pt x="26310" y="33610"/>
                  <a:pt x="21006" y="38914"/>
                  <a:pt x="21006" y="45452"/>
                </a:cubicBezTo>
                <a:cubicBezTo>
                  <a:pt x="21006" y="51360"/>
                  <a:pt x="25339" y="56349"/>
                  <a:pt x="31168" y="57189"/>
                </a:cubicBezTo>
                <a:lnTo>
                  <a:pt x="55220" y="60629"/>
                </a:lnTo>
                <a:cubicBezTo>
                  <a:pt x="69347" y="62651"/>
                  <a:pt x="79824" y="74730"/>
                  <a:pt x="79824" y="88988"/>
                </a:cubicBezTo>
                <a:cubicBezTo>
                  <a:pt x="79824" y="104821"/>
                  <a:pt x="66984" y="117635"/>
                  <a:pt x="51176" y="117635"/>
                </a:cubicBezTo>
                <a:lnTo>
                  <a:pt x="48314" y="117635"/>
                </a:lnTo>
                <a:lnTo>
                  <a:pt x="48314" y="128138"/>
                </a:lnTo>
                <a:cubicBezTo>
                  <a:pt x="48314" y="131630"/>
                  <a:pt x="45505" y="134440"/>
                  <a:pt x="42012" y="134440"/>
                </a:cubicBezTo>
                <a:cubicBezTo>
                  <a:pt x="38520" y="134440"/>
                  <a:pt x="35711" y="131630"/>
                  <a:pt x="35711" y="128138"/>
                </a:cubicBezTo>
                <a:lnTo>
                  <a:pt x="35711" y="117635"/>
                </a:lnTo>
                <a:lnTo>
                  <a:pt x="16805" y="117635"/>
                </a:lnTo>
                <a:cubicBezTo>
                  <a:pt x="12157" y="117635"/>
                  <a:pt x="8402" y="113880"/>
                  <a:pt x="8402" y="109232"/>
                </a:cubicBezTo>
                <a:cubicBezTo>
                  <a:pt x="8402" y="104585"/>
                  <a:pt x="12157" y="100830"/>
                  <a:pt x="16805" y="100830"/>
                </a:cubicBezTo>
                <a:lnTo>
                  <a:pt x="51176" y="100830"/>
                </a:lnTo>
                <a:cubicBezTo>
                  <a:pt x="57715" y="100830"/>
                  <a:pt x="63019" y="95526"/>
                  <a:pt x="63019" y="88988"/>
                </a:cubicBezTo>
                <a:cubicBezTo>
                  <a:pt x="63019" y="83080"/>
                  <a:pt x="58686" y="78091"/>
                  <a:pt x="52857" y="77250"/>
                </a:cubicBezTo>
                <a:lnTo>
                  <a:pt x="28805" y="73811"/>
                </a:lnTo>
                <a:cubicBezTo>
                  <a:pt x="14678" y="71815"/>
                  <a:pt x="4201" y="59710"/>
                  <a:pt x="4201" y="45452"/>
                </a:cubicBezTo>
                <a:cubicBezTo>
                  <a:pt x="4201" y="29645"/>
                  <a:pt x="17041" y="16805"/>
                  <a:pt x="32848" y="16805"/>
                </a:cubicBezTo>
                <a:lnTo>
                  <a:pt x="35711" y="16805"/>
                </a:lnTo>
                <a:lnTo>
                  <a:pt x="35711" y="6302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4" name="Text 52"/>
          <p:cNvSpPr/>
          <p:nvPr/>
        </p:nvSpPr>
        <p:spPr>
          <a:xfrm>
            <a:off x="8607817" y="4134021"/>
            <a:ext cx="806638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72547" y="4402900"/>
            <a:ext cx="3276968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manual complaint handling costs and optimizes resource allocation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36099" y="5243148"/>
            <a:ext cx="11519802" cy="1411617"/>
          </a:xfrm>
          <a:custGeom>
            <a:avLst/>
            <a:gdLst/>
            <a:ahLst/>
            <a:cxnLst/>
            <a:rect l="l" t="t" r="r" b="b"/>
            <a:pathLst>
              <a:path w="11519802" h="1411617">
                <a:moveTo>
                  <a:pt x="100832" y="0"/>
                </a:moveTo>
                <a:lnTo>
                  <a:pt x="11418970" y="0"/>
                </a:lnTo>
                <a:cubicBezTo>
                  <a:pt x="11474658" y="0"/>
                  <a:pt x="11519802" y="45144"/>
                  <a:pt x="11519802" y="100832"/>
                </a:cubicBezTo>
                <a:lnTo>
                  <a:pt x="11519802" y="1310785"/>
                </a:lnTo>
                <a:cubicBezTo>
                  <a:pt x="11519802" y="1366473"/>
                  <a:pt x="11474658" y="1411617"/>
                  <a:pt x="11418970" y="1411617"/>
                </a:cubicBezTo>
                <a:lnTo>
                  <a:pt x="100832" y="1411617"/>
                </a:lnTo>
                <a:cubicBezTo>
                  <a:pt x="45144" y="1411617"/>
                  <a:pt x="0" y="1366473"/>
                  <a:pt x="0" y="1310785"/>
                </a:cubicBezTo>
                <a:lnTo>
                  <a:pt x="0" y="100832"/>
                </a:lnTo>
                <a:cubicBezTo>
                  <a:pt x="0" y="45181"/>
                  <a:pt x="45181" y="0"/>
                  <a:pt x="10083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535C"/>
              </a:gs>
              <a:gs pos="100000">
                <a:srgbClr val="4A7C59"/>
              </a:gs>
            </a:gsLst>
            <a:lin ang="0" scaled="1"/>
          </a:gradFill>
          <a:ln/>
        </p:spPr>
      </p:sp>
      <p:sp>
        <p:nvSpPr>
          <p:cNvPr id="57" name="Shape 55"/>
          <p:cNvSpPr/>
          <p:nvPr/>
        </p:nvSpPr>
        <p:spPr>
          <a:xfrm>
            <a:off x="491545" y="5411198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84025" y="0"/>
                </a:moveTo>
                <a:cubicBezTo>
                  <a:pt x="88850" y="0"/>
                  <a:pt x="93281" y="2659"/>
                  <a:pt x="95578" y="6893"/>
                </a:cubicBezTo>
                <a:lnTo>
                  <a:pt x="166474" y="138181"/>
                </a:lnTo>
                <a:cubicBezTo>
                  <a:pt x="168673" y="142251"/>
                  <a:pt x="168575" y="147175"/>
                  <a:pt x="166212" y="151146"/>
                </a:cubicBezTo>
                <a:cubicBezTo>
                  <a:pt x="163848" y="155118"/>
                  <a:pt x="159549" y="157547"/>
                  <a:pt x="154921" y="157547"/>
                </a:cubicBezTo>
                <a:lnTo>
                  <a:pt x="13129" y="157547"/>
                </a:lnTo>
                <a:cubicBezTo>
                  <a:pt x="8501" y="157547"/>
                  <a:pt x="4234" y="155118"/>
                  <a:pt x="1838" y="151146"/>
                </a:cubicBezTo>
                <a:cubicBezTo>
                  <a:pt x="-558" y="147175"/>
                  <a:pt x="-624" y="142251"/>
                  <a:pt x="1575" y="138181"/>
                </a:cubicBezTo>
                <a:lnTo>
                  <a:pt x="72471" y="6893"/>
                </a:lnTo>
                <a:cubicBezTo>
                  <a:pt x="74769" y="2659"/>
                  <a:pt x="79200" y="0"/>
                  <a:pt x="84025" y="0"/>
                </a:cubicBezTo>
                <a:close/>
                <a:moveTo>
                  <a:pt x="84025" y="55141"/>
                </a:moveTo>
                <a:cubicBezTo>
                  <a:pt x="79659" y="55141"/>
                  <a:pt x="76147" y="58653"/>
                  <a:pt x="76147" y="63019"/>
                </a:cubicBezTo>
                <a:lnTo>
                  <a:pt x="76147" y="99779"/>
                </a:lnTo>
                <a:cubicBezTo>
                  <a:pt x="76147" y="104145"/>
                  <a:pt x="79659" y="107657"/>
                  <a:pt x="84025" y="107657"/>
                </a:cubicBezTo>
                <a:cubicBezTo>
                  <a:pt x="88390" y="107657"/>
                  <a:pt x="91902" y="104145"/>
                  <a:pt x="91902" y="99779"/>
                </a:cubicBezTo>
                <a:lnTo>
                  <a:pt x="91902" y="63019"/>
                </a:lnTo>
                <a:cubicBezTo>
                  <a:pt x="91902" y="58653"/>
                  <a:pt x="88390" y="55141"/>
                  <a:pt x="84025" y="55141"/>
                </a:cubicBezTo>
                <a:close/>
                <a:moveTo>
                  <a:pt x="92788" y="126037"/>
                </a:moveTo>
                <a:cubicBezTo>
                  <a:pt x="92988" y="122784"/>
                  <a:pt x="91365" y="119689"/>
                  <a:pt x="88577" y="118003"/>
                </a:cubicBezTo>
                <a:cubicBezTo>
                  <a:pt x="85788" y="116316"/>
                  <a:pt x="82294" y="116316"/>
                  <a:pt x="79506" y="118003"/>
                </a:cubicBezTo>
                <a:cubicBezTo>
                  <a:pt x="76717" y="119689"/>
                  <a:pt x="75095" y="122784"/>
                  <a:pt x="75294" y="126037"/>
                </a:cubicBezTo>
                <a:cubicBezTo>
                  <a:pt x="75095" y="129290"/>
                  <a:pt x="76717" y="132385"/>
                  <a:pt x="79506" y="134072"/>
                </a:cubicBezTo>
                <a:cubicBezTo>
                  <a:pt x="82294" y="135758"/>
                  <a:pt x="85788" y="135758"/>
                  <a:pt x="88577" y="134072"/>
                </a:cubicBezTo>
                <a:cubicBezTo>
                  <a:pt x="91365" y="132385"/>
                  <a:pt x="92988" y="129290"/>
                  <a:pt x="92788" y="126037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8" name="Text 56"/>
          <p:cNvSpPr/>
          <p:nvPr/>
        </p:nvSpPr>
        <p:spPr>
          <a:xfrm>
            <a:off x="680601" y="5377588"/>
            <a:ext cx="11124885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 Strategies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70539" y="5713687"/>
            <a:ext cx="3663482" cy="806638"/>
          </a:xfrm>
          <a:custGeom>
            <a:avLst/>
            <a:gdLst/>
            <a:ahLst/>
            <a:cxnLst/>
            <a:rect l="l" t="t" r="r" b="b"/>
            <a:pathLst>
              <a:path w="3663482" h="806638">
                <a:moveTo>
                  <a:pt x="67217" y="0"/>
                </a:moveTo>
                <a:lnTo>
                  <a:pt x="3596265" y="0"/>
                </a:lnTo>
                <a:cubicBezTo>
                  <a:pt x="3633388" y="0"/>
                  <a:pt x="3663482" y="30094"/>
                  <a:pt x="3663482" y="67217"/>
                </a:cubicBezTo>
                <a:lnTo>
                  <a:pt x="3663482" y="739421"/>
                </a:lnTo>
                <a:cubicBezTo>
                  <a:pt x="3663482" y="776544"/>
                  <a:pt x="3633388" y="806638"/>
                  <a:pt x="3596265" y="806638"/>
                </a:cubicBezTo>
                <a:lnTo>
                  <a:pt x="67217" y="806638"/>
                </a:lnTo>
                <a:cubicBezTo>
                  <a:pt x="30094" y="806638"/>
                  <a:pt x="0" y="776544"/>
                  <a:pt x="0" y="73942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71369" y="5814517"/>
            <a:ext cx="35290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6" b="1" dirty="0">
                <a:solidFill>
                  <a:srgbClr val="1A535C"/>
                </a:solidFill>
                <a:highlight>
                  <a:srgbClr val="F7B538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</a:t>
            </a:r>
            <a:pPr>
              <a:lnSpc>
                <a:spcPct val="130000"/>
              </a:lnSpc>
            </a:pPr>
            <a:r>
              <a:rPr lang="en-US" sz="1059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Privacy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71369" y="6083396"/>
            <a:ext cx="3520640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authentication, role-based access control, data encryption at rest and in transit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64679" y="5713687"/>
            <a:ext cx="3663482" cy="806638"/>
          </a:xfrm>
          <a:custGeom>
            <a:avLst/>
            <a:gdLst/>
            <a:ahLst/>
            <a:cxnLst/>
            <a:rect l="l" t="t" r="r" b="b"/>
            <a:pathLst>
              <a:path w="3663482" h="806638">
                <a:moveTo>
                  <a:pt x="67217" y="0"/>
                </a:moveTo>
                <a:lnTo>
                  <a:pt x="3596265" y="0"/>
                </a:lnTo>
                <a:cubicBezTo>
                  <a:pt x="3633388" y="0"/>
                  <a:pt x="3663482" y="30094"/>
                  <a:pt x="3663482" y="67217"/>
                </a:cubicBezTo>
                <a:lnTo>
                  <a:pt x="3663482" y="739421"/>
                </a:lnTo>
                <a:cubicBezTo>
                  <a:pt x="3663482" y="776544"/>
                  <a:pt x="3633388" y="806638"/>
                  <a:pt x="3596265" y="806638"/>
                </a:cubicBezTo>
                <a:lnTo>
                  <a:pt x="67217" y="806638"/>
                </a:lnTo>
                <a:cubicBezTo>
                  <a:pt x="30094" y="806638"/>
                  <a:pt x="0" y="776544"/>
                  <a:pt x="0" y="73942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4365509" y="5814517"/>
            <a:ext cx="35290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6" b="1" dirty="0">
                <a:solidFill>
                  <a:srgbClr val="1A535C"/>
                </a:solidFill>
                <a:highlight>
                  <a:srgbClr val="F7B538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</a:t>
            </a:r>
            <a:pPr>
              <a:lnSpc>
                <a:spcPct val="130000"/>
              </a:lnSpc>
            </a:pPr>
            <a:r>
              <a:rPr lang="en-US" sz="1059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365509" y="6083396"/>
            <a:ext cx="3520640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 architecture with auto-scaling capabilities, load balancing, and CDN integration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058820" y="5713687"/>
            <a:ext cx="3663482" cy="806638"/>
          </a:xfrm>
          <a:custGeom>
            <a:avLst/>
            <a:gdLst/>
            <a:ahLst/>
            <a:cxnLst/>
            <a:rect l="l" t="t" r="r" b="b"/>
            <a:pathLst>
              <a:path w="3663482" h="806638">
                <a:moveTo>
                  <a:pt x="67217" y="0"/>
                </a:moveTo>
                <a:lnTo>
                  <a:pt x="3596265" y="0"/>
                </a:lnTo>
                <a:cubicBezTo>
                  <a:pt x="3633388" y="0"/>
                  <a:pt x="3663482" y="30094"/>
                  <a:pt x="3663482" y="67217"/>
                </a:cubicBezTo>
                <a:lnTo>
                  <a:pt x="3663482" y="739421"/>
                </a:lnTo>
                <a:cubicBezTo>
                  <a:pt x="3663482" y="776544"/>
                  <a:pt x="3633388" y="806638"/>
                  <a:pt x="3596265" y="806638"/>
                </a:cubicBezTo>
                <a:lnTo>
                  <a:pt x="67217" y="806638"/>
                </a:lnTo>
                <a:cubicBezTo>
                  <a:pt x="30094" y="806638"/>
                  <a:pt x="0" y="776544"/>
                  <a:pt x="0" y="739421"/>
                </a:cubicBezTo>
                <a:lnTo>
                  <a:pt x="0" y="67217"/>
                </a:lnTo>
                <a:cubicBezTo>
                  <a:pt x="0" y="30094"/>
                  <a:pt x="30094" y="0"/>
                  <a:pt x="67217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159650" y="5814517"/>
            <a:ext cx="352904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6" b="1" dirty="0">
                <a:solidFill>
                  <a:srgbClr val="1A535C"/>
                </a:solidFill>
                <a:highlight>
                  <a:srgbClr val="F7B538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</a:t>
            </a:r>
            <a:pPr>
              <a:lnSpc>
                <a:spcPct val="130000"/>
              </a:lnSpc>
            </a:pPr>
            <a:r>
              <a:rPr lang="en-US" sz="1059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Adoption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159650" y="6083396"/>
            <a:ext cx="3520640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interface design, multi-language support, offline capability, extensive user training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361950"/>
                </a:lnTo>
                <a:cubicBezTo>
                  <a:pt x="38100" y="372464"/>
                  <a:pt x="29564" y="381000"/>
                  <a:pt x="19050" y="381000"/>
                </a:cubicBezTo>
                <a:lnTo>
                  <a:pt x="19050" y="381000"/>
                </a:lnTo>
                <a:cubicBezTo>
                  <a:pt x="8536" y="381000"/>
                  <a:pt x="0" y="372464"/>
                  <a:pt x="0" y="3619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181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and Benefits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8382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civic governance through transparency, efficiency, and citizen empowerment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81100"/>
            <a:ext cx="3686175" cy="4210050"/>
          </a:xfrm>
          <a:custGeom>
            <a:avLst/>
            <a:gdLst/>
            <a:ahLst/>
            <a:cxnLst/>
            <a:rect l="l" t="t" r="r" b="b"/>
            <a:pathLst>
              <a:path w="3686175" h="4210050">
                <a:moveTo>
                  <a:pt x="38100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095742"/>
                </a:lnTo>
                <a:cubicBezTo>
                  <a:pt x="3686175" y="4158872"/>
                  <a:pt x="3634997" y="4210050"/>
                  <a:pt x="3571867" y="4210050"/>
                </a:cubicBezTo>
                <a:lnTo>
                  <a:pt x="38100" y="4210050"/>
                </a:lnTo>
                <a:cubicBezTo>
                  <a:pt x="17072" y="4210050"/>
                  <a:pt x="0" y="4192978"/>
                  <a:pt x="0" y="4171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181100"/>
            <a:ext cx="38100" cy="4210050"/>
          </a:xfrm>
          <a:custGeom>
            <a:avLst/>
            <a:gdLst/>
            <a:ahLst/>
            <a:cxnLst/>
            <a:rect l="l" t="t" r="r" b="b"/>
            <a:pathLst>
              <a:path w="38100" h="4210050">
                <a:moveTo>
                  <a:pt x="38100" y="0"/>
                </a:moveTo>
                <a:lnTo>
                  <a:pt x="38100" y="0"/>
                </a:lnTo>
                <a:lnTo>
                  <a:pt x="38100" y="4210050"/>
                </a:lnTo>
                <a:lnTo>
                  <a:pt x="38100" y="4210050"/>
                </a:lnTo>
                <a:cubicBezTo>
                  <a:pt x="17072" y="4210050"/>
                  <a:pt x="0" y="4192978"/>
                  <a:pt x="0" y="4171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7C59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9613" y="1485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23753"/>
                </a:moveTo>
                <a:lnTo>
                  <a:pt x="68000" y="81617"/>
                </a:lnTo>
                <a:cubicBezTo>
                  <a:pt x="65946" y="83894"/>
                  <a:pt x="66035" y="87422"/>
                  <a:pt x="68223" y="89609"/>
                </a:cubicBezTo>
                <a:cubicBezTo>
                  <a:pt x="81841" y="103227"/>
                  <a:pt x="103942" y="103227"/>
                  <a:pt x="117559" y="89609"/>
                </a:cubicBezTo>
                <a:lnTo>
                  <a:pt x="131758" y="75411"/>
                </a:lnTo>
                <a:cubicBezTo>
                  <a:pt x="133633" y="73536"/>
                  <a:pt x="135999" y="72509"/>
                  <a:pt x="138410" y="72330"/>
                </a:cubicBezTo>
                <a:cubicBezTo>
                  <a:pt x="141446" y="72063"/>
                  <a:pt x="144572" y="73089"/>
                  <a:pt x="146893" y="75411"/>
                </a:cubicBezTo>
                <a:lnTo>
                  <a:pt x="225743" y="153591"/>
                </a:lnTo>
                <a:lnTo>
                  <a:pt x="257175" y="128588"/>
                </a:lnTo>
                <a:lnTo>
                  <a:pt x="257175" y="0"/>
                </a:lnTo>
                <a:lnTo>
                  <a:pt x="207169" y="28575"/>
                </a:lnTo>
                <a:lnTo>
                  <a:pt x="196542" y="21476"/>
                </a:lnTo>
                <a:cubicBezTo>
                  <a:pt x="189488" y="16788"/>
                  <a:pt x="181228" y="14288"/>
                  <a:pt x="172745" y="14288"/>
                </a:cubicBezTo>
                <a:lnTo>
                  <a:pt x="141312" y="14288"/>
                </a:lnTo>
                <a:cubicBezTo>
                  <a:pt x="140821" y="14288"/>
                  <a:pt x="140285" y="14288"/>
                  <a:pt x="139794" y="14332"/>
                </a:cubicBezTo>
                <a:cubicBezTo>
                  <a:pt x="132249" y="14734"/>
                  <a:pt x="125150" y="18127"/>
                  <a:pt x="120060" y="23753"/>
                </a:cubicBezTo>
                <a:close/>
                <a:moveTo>
                  <a:pt x="52060" y="67285"/>
                </a:moveTo>
                <a:lnTo>
                  <a:pt x="99745" y="14288"/>
                </a:lnTo>
                <a:lnTo>
                  <a:pt x="82064" y="14288"/>
                </a:lnTo>
                <a:cubicBezTo>
                  <a:pt x="70678" y="14288"/>
                  <a:pt x="59784" y="18797"/>
                  <a:pt x="51748" y="26834"/>
                </a:cubicBezTo>
                <a:lnTo>
                  <a:pt x="0" y="85725"/>
                </a:lnTo>
                <a:lnTo>
                  <a:pt x="0" y="242888"/>
                </a:lnTo>
                <a:lnTo>
                  <a:pt x="64294" y="182166"/>
                </a:lnTo>
                <a:lnTo>
                  <a:pt x="69830" y="186764"/>
                </a:lnTo>
                <a:cubicBezTo>
                  <a:pt x="80099" y="195337"/>
                  <a:pt x="93047" y="200025"/>
                  <a:pt x="106397" y="200025"/>
                </a:cubicBezTo>
                <a:lnTo>
                  <a:pt x="113407" y="200025"/>
                </a:lnTo>
                <a:lnTo>
                  <a:pt x="110282" y="196900"/>
                </a:lnTo>
                <a:cubicBezTo>
                  <a:pt x="106085" y="192703"/>
                  <a:pt x="106085" y="185916"/>
                  <a:pt x="110282" y="181764"/>
                </a:cubicBezTo>
                <a:cubicBezTo>
                  <a:pt x="114479" y="177611"/>
                  <a:pt x="121265" y="177567"/>
                  <a:pt x="125417" y="181764"/>
                </a:cubicBezTo>
                <a:lnTo>
                  <a:pt x="143723" y="200070"/>
                </a:lnTo>
                <a:lnTo>
                  <a:pt x="147742" y="200070"/>
                </a:lnTo>
                <a:cubicBezTo>
                  <a:pt x="156270" y="200070"/>
                  <a:pt x="164619" y="198150"/>
                  <a:pt x="172209" y="194578"/>
                </a:cubicBezTo>
                <a:lnTo>
                  <a:pt x="160288" y="182612"/>
                </a:lnTo>
                <a:cubicBezTo>
                  <a:pt x="156091" y="178415"/>
                  <a:pt x="156091" y="171629"/>
                  <a:pt x="160288" y="167476"/>
                </a:cubicBezTo>
                <a:cubicBezTo>
                  <a:pt x="164485" y="163324"/>
                  <a:pt x="171271" y="163279"/>
                  <a:pt x="175424" y="167476"/>
                </a:cubicBezTo>
                <a:lnTo>
                  <a:pt x="189711" y="181764"/>
                </a:lnTo>
                <a:lnTo>
                  <a:pt x="197525" y="173950"/>
                </a:lnTo>
                <a:cubicBezTo>
                  <a:pt x="201498" y="169977"/>
                  <a:pt x="202659" y="164217"/>
                  <a:pt x="200918" y="159172"/>
                </a:cubicBezTo>
                <a:lnTo>
                  <a:pt x="139348" y="98093"/>
                </a:lnTo>
                <a:lnTo>
                  <a:pt x="132695" y="104745"/>
                </a:lnTo>
                <a:cubicBezTo>
                  <a:pt x="110683" y="126757"/>
                  <a:pt x="75054" y="126757"/>
                  <a:pt x="53042" y="104745"/>
                </a:cubicBezTo>
                <a:cubicBezTo>
                  <a:pt x="42773" y="94476"/>
                  <a:pt x="42371" y="78001"/>
                  <a:pt x="52060" y="67241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4668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Impact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Shape 9"/>
          <p:cNvSpPr/>
          <p:nvPr/>
        </p:nvSpPr>
        <p:spPr>
          <a:xfrm>
            <a:off x="642938" y="20669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19812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Empowerment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224790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active participation in civic governance, giving citizens a voice in community improvement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105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272" y="31908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10515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337185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dashboard ensures accountability in public service delivery and resource allocation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9606" y="4314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3724" y="8334"/>
                  <a:pt x="0" y="12059"/>
                  <a:pt x="0" y="16669"/>
                </a:cubicBezTo>
                <a:cubicBezTo>
                  <a:pt x="0" y="21279"/>
                  <a:pt x="3724" y="25003"/>
                  <a:pt x="8334" y="25003"/>
                </a:cubicBezTo>
                <a:lnTo>
                  <a:pt x="10418" y="25003"/>
                </a:lnTo>
                <a:lnTo>
                  <a:pt x="10418" y="41672"/>
                </a:lnTo>
                <a:lnTo>
                  <a:pt x="0" y="41672"/>
                </a:lnTo>
                <a:lnTo>
                  <a:pt x="0" y="70842"/>
                </a:lnTo>
                <a:cubicBezTo>
                  <a:pt x="9793" y="73290"/>
                  <a:pt x="16669" y="82094"/>
                  <a:pt x="16669" y="92199"/>
                </a:cubicBezTo>
                <a:lnTo>
                  <a:pt x="16669" y="116681"/>
                </a:lnTo>
                <a:cubicBezTo>
                  <a:pt x="16669" y="121291"/>
                  <a:pt x="20393" y="125016"/>
                  <a:pt x="25003" y="125016"/>
                </a:cubicBezTo>
                <a:lnTo>
                  <a:pt x="33337" y="125016"/>
                </a:lnTo>
                <a:cubicBezTo>
                  <a:pt x="37947" y="125016"/>
                  <a:pt x="41672" y="121291"/>
                  <a:pt x="41672" y="116681"/>
                </a:cubicBezTo>
                <a:lnTo>
                  <a:pt x="41672" y="100013"/>
                </a:lnTo>
                <a:cubicBezTo>
                  <a:pt x="41672" y="86209"/>
                  <a:pt x="52871" y="75009"/>
                  <a:pt x="66675" y="75009"/>
                </a:cubicBezTo>
                <a:cubicBezTo>
                  <a:pt x="80479" y="75009"/>
                  <a:pt x="91678" y="86209"/>
                  <a:pt x="91678" y="100013"/>
                </a:cubicBezTo>
                <a:lnTo>
                  <a:pt x="91678" y="116681"/>
                </a:lnTo>
                <a:cubicBezTo>
                  <a:pt x="91678" y="121291"/>
                  <a:pt x="95403" y="125016"/>
                  <a:pt x="100013" y="125016"/>
                </a:cubicBezTo>
                <a:lnTo>
                  <a:pt x="108347" y="125016"/>
                </a:lnTo>
                <a:cubicBezTo>
                  <a:pt x="112957" y="125016"/>
                  <a:pt x="116681" y="121291"/>
                  <a:pt x="116681" y="116681"/>
                </a:cubicBezTo>
                <a:lnTo>
                  <a:pt x="116681" y="92199"/>
                </a:lnTo>
                <a:cubicBezTo>
                  <a:pt x="116681" y="82094"/>
                  <a:pt x="123557" y="73290"/>
                  <a:pt x="133350" y="70842"/>
                </a:cubicBezTo>
                <a:lnTo>
                  <a:pt x="133350" y="41672"/>
                </a:lnTo>
                <a:lnTo>
                  <a:pt x="122932" y="41672"/>
                </a:lnTo>
                <a:lnTo>
                  <a:pt x="122932" y="25003"/>
                </a:lnTo>
                <a:lnTo>
                  <a:pt x="125016" y="25003"/>
                </a:lnTo>
                <a:cubicBezTo>
                  <a:pt x="129626" y="25003"/>
                  <a:pt x="133350" y="21279"/>
                  <a:pt x="133350" y="16669"/>
                </a:cubicBezTo>
                <a:cubicBezTo>
                  <a:pt x="133350" y="12059"/>
                  <a:pt x="129626" y="8334"/>
                  <a:pt x="125016" y="8334"/>
                </a:cubicBezTo>
                <a:lnTo>
                  <a:pt x="8334" y="8334"/>
                </a:lnTo>
                <a:close/>
                <a:moveTo>
                  <a:pt x="110430" y="25003"/>
                </a:moveTo>
                <a:lnTo>
                  <a:pt x="110430" y="41672"/>
                </a:lnTo>
                <a:lnTo>
                  <a:pt x="89595" y="41672"/>
                </a:lnTo>
                <a:lnTo>
                  <a:pt x="89595" y="25003"/>
                </a:lnTo>
                <a:lnTo>
                  <a:pt x="110430" y="25003"/>
                </a:lnTo>
                <a:close/>
                <a:moveTo>
                  <a:pt x="77093" y="25003"/>
                </a:moveTo>
                <a:lnTo>
                  <a:pt x="77093" y="41672"/>
                </a:lnTo>
                <a:lnTo>
                  <a:pt x="56257" y="41672"/>
                </a:lnTo>
                <a:lnTo>
                  <a:pt x="56257" y="25003"/>
                </a:lnTo>
                <a:lnTo>
                  <a:pt x="77093" y="25003"/>
                </a:lnTo>
                <a:close/>
                <a:moveTo>
                  <a:pt x="22920" y="25003"/>
                </a:moveTo>
                <a:lnTo>
                  <a:pt x="43755" y="25003"/>
                </a:lnTo>
                <a:lnTo>
                  <a:pt x="43755" y="41672"/>
                </a:lnTo>
                <a:lnTo>
                  <a:pt x="22920" y="41672"/>
                </a:lnTo>
                <a:lnTo>
                  <a:pt x="22920" y="2500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42291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Bridging Gap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449580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Connects citizens directly with administration, reducing communication barriers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60771" y="1181100"/>
            <a:ext cx="3686175" cy="4210050"/>
          </a:xfrm>
          <a:custGeom>
            <a:avLst/>
            <a:gdLst/>
            <a:ahLst/>
            <a:cxnLst/>
            <a:rect l="l" t="t" r="r" b="b"/>
            <a:pathLst>
              <a:path w="3686175" h="4210050">
                <a:moveTo>
                  <a:pt x="38100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095742"/>
                </a:lnTo>
                <a:cubicBezTo>
                  <a:pt x="3686175" y="4158872"/>
                  <a:pt x="3634997" y="4210050"/>
                  <a:pt x="3571867" y="4210050"/>
                </a:cubicBezTo>
                <a:lnTo>
                  <a:pt x="38100" y="4210050"/>
                </a:lnTo>
                <a:cubicBezTo>
                  <a:pt x="17072" y="4210050"/>
                  <a:pt x="0" y="4192978"/>
                  <a:pt x="0" y="4171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0771" y="1181100"/>
            <a:ext cx="38100" cy="4210050"/>
          </a:xfrm>
          <a:custGeom>
            <a:avLst/>
            <a:gdLst/>
            <a:ahLst/>
            <a:cxnLst/>
            <a:rect l="l" t="t" r="r" b="b"/>
            <a:pathLst>
              <a:path w="38100" h="4210050">
                <a:moveTo>
                  <a:pt x="38100" y="0"/>
                </a:moveTo>
                <a:lnTo>
                  <a:pt x="38100" y="0"/>
                </a:lnTo>
                <a:lnTo>
                  <a:pt x="38100" y="4210050"/>
                </a:lnTo>
                <a:lnTo>
                  <a:pt x="38100" y="4210050"/>
                </a:lnTo>
                <a:cubicBezTo>
                  <a:pt x="17072" y="4210050"/>
                  <a:pt x="0" y="4192978"/>
                  <a:pt x="0" y="4171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4" name="Shape 22"/>
          <p:cNvSpPr/>
          <p:nvPr/>
        </p:nvSpPr>
        <p:spPr>
          <a:xfrm>
            <a:off x="4432221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7B538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84621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6" name="Text 24"/>
          <p:cNvSpPr/>
          <p:nvPr/>
        </p:nvSpPr>
        <p:spPr>
          <a:xfrm>
            <a:off x="5079921" y="14668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 Benefits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32221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0327" y="2066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006" y="66675"/>
                </a:moveTo>
                <a:lnTo>
                  <a:pt x="39719" y="76963"/>
                </a:lnTo>
                <a:cubicBezTo>
                  <a:pt x="36437" y="75687"/>
                  <a:pt x="32895" y="75009"/>
                  <a:pt x="29170" y="75009"/>
                </a:cubicBezTo>
                <a:cubicBezTo>
                  <a:pt x="13049" y="75009"/>
                  <a:pt x="0" y="88058"/>
                  <a:pt x="0" y="104180"/>
                </a:cubicBezTo>
                <a:cubicBezTo>
                  <a:pt x="0" y="120301"/>
                  <a:pt x="13049" y="133350"/>
                  <a:pt x="29170" y="133350"/>
                </a:cubicBezTo>
                <a:cubicBezTo>
                  <a:pt x="45292" y="133350"/>
                  <a:pt x="58341" y="120301"/>
                  <a:pt x="58341" y="104180"/>
                </a:cubicBezTo>
                <a:cubicBezTo>
                  <a:pt x="58341" y="100455"/>
                  <a:pt x="57637" y="96913"/>
                  <a:pt x="56387" y="93631"/>
                </a:cubicBezTo>
                <a:lnTo>
                  <a:pt x="130016" y="20003"/>
                </a:lnTo>
                <a:cubicBezTo>
                  <a:pt x="131865" y="18153"/>
                  <a:pt x="131865" y="15184"/>
                  <a:pt x="130016" y="13335"/>
                </a:cubicBezTo>
                <a:cubicBezTo>
                  <a:pt x="122646" y="5964"/>
                  <a:pt x="110717" y="5964"/>
                  <a:pt x="103346" y="13335"/>
                </a:cubicBezTo>
                <a:lnTo>
                  <a:pt x="66675" y="50006"/>
                </a:lnTo>
                <a:lnTo>
                  <a:pt x="56387" y="39719"/>
                </a:lnTo>
                <a:cubicBezTo>
                  <a:pt x="57663" y="36437"/>
                  <a:pt x="58341" y="32895"/>
                  <a:pt x="58341" y="29170"/>
                </a:cubicBezTo>
                <a:cubicBezTo>
                  <a:pt x="58341" y="13049"/>
                  <a:pt x="45292" y="0"/>
                  <a:pt x="29170" y="0"/>
                </a:cubicBezTo>
                <a:cubicBezTo>
                  <a:pt x="13049" y="0"/>
                  <a:pt x="0" y="13049"/>
                  <a:pt x="0" y="29170"/>
                </a:cubicBezTo>
                <a:cubicBezTo>
                  <a:pt x="0" y="45292"/>
                  <a:pt x="13049" y="58341"/>
                  <a:pt x="29170" y="58341"/>
                </a:cubicBezTo>
                <a:cubicBezTo>
                  <a:pt x="32895" y="58341"/>
                  <a:pt x="36437" y="57637"/>
                  <a:pt x="39719" y="56387"/>
                </a:cubicBezTo>
                <a:lnTo>
                  <a:pt x="50006" y="66675"/>
                </a:lnTo>
                <a:close/>
                <a:moveTo>
                  <a:pt x="75504" y="92173"/>
                </a:moveTo>
                <a:lnTo>
                  <a:pt x="103346" y="120015"/>
                </a:lnTo>
                <a:cubicBezTo>
                  <a:pt x="110717" y="127386"/>
                  <a:pt x="122646" y="127386"/>
                  <a:pt x="130016" y="120015"/>
                </a:cubicBezTo>
                <a:cubicBezTo>
                  <a:pt x="131865" y="118166"/>
                  <a:pt x="131865" y="115197"/>
                  <a:pt x="130016" y="113348"/>
                </a:cubicBezTo>
                <a:lnTo>
                  <a:pt x="92173" y="75504"/>
                </a:lnTo>
                <a:lnTo>
                  <a:pt x="75504" y="92173"/>
                </a:lnTo>
                <a:close/>
                <a:moveTo>
                  <a:pt x="16669" y="29170"/>
                </a:moveTo>
                <a:cubicBezTo>
                  <a:pt x="16669" y="22271"/>
                  <a:pt x="22271" y="16669"/>
                  <a:pt x="29170" y="16669"/>
                </a:cubicBezTo>
                <a:cubicBezTo>
                  <a:pt x="36070" y="16669"/>
                  <a:pt x="41672" y="22271"/>
                  <a:pt x="41672" y="29170"/>
                </a:cubicBezTo>
                <a:cubicBezTo>
                  <a:pt x="41672" y="36070"/>
                  <a:pt x="36070" y="41672"/>
                  <a:pt x="29170" y="41672"/>
                </a:cubicBezTo>
                <a:cubicBezTo>
                  <a:pt x="22271" y="41672"/>
                  <a:pt x="16669" y="36070"/>
                  <a:pt x="16669" y="29170"/>
                </a:cubicBezTo>
                <a:close/>
                <a:moveTo>
                  <a:pt x="29170" y="91678"/>
                </a:moveTo>
                <a:cubicBezTo>
                  <a:pt x="36070" y="91678"/>
                  <a:pt x="41672" y="97280"/>
                  <a:pt x="41672" y="104180"/>
                </a:cubicBezTo>
                <a:cubicBezTo>
                  <a:pt x="41672" y="111079"/>
                  <a:pt x="36070" y="116681"/>
                  <a:pt x="29170" y="116681"/>
                </a:cubicBezTo>
                <a:cubicBezTo>
                  <a:pt x="22271" y="116681"/>
                  <a:pt x="16669" y="111079"/>
                  <a:pt x="16669" y="104180"/>
                </a:cubicBezTo>
                <a:cubicBezTo>
                  <a:pt x="16669" y="97280"/>
                  <a:pt x="22271" y="91678"/>
                  <a:pt x="29170" y="91678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9" name="Text 27"/>
          <p:cNvSpPr/>
          <p:nvPr/>
        </p:nvSpPr>
        <p:spPr>
          <a:xfrm>
            <a:off x="4851321" y="19812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51321" y="224790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manual complaint handling, paper-based records, and reduces administrative overhead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32221" y="3105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11993" y="31908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33454" y="62508"/>
                </a:moveTo>
                <a:lnTo>
                  <a:pt x="87615" y="62508"/>
                </a:lnTo>
                <a:cubicBezTo>
                  <a:pt x="83005" y="62508"/>
                  <a:pt x="79281" y="58783"/>
                  <a:pt x="79281" y="54173"/>
                </a:cubicBezTo>
                <a:lnTo>
                  <a:pt x="79281" y="8334"/>
                </a:lnTo>
                <a:cubicBezTo>
                  <a:pt x="79281" y="3724"/>
                  <a:pt x="83031" y="-52"/>
                  <a:pt x="87589" y="547"/>
                </a:cubicBezTo>
                <a:cubicBezTo>
                  <a:pt x="115457" y="4245"/>
                  <a:pt x="137543" y="26331"/>
                  <a:pt x="141242" y="54199"/>
                </a:cubicBezTo>
                <a:cubicBezTo>
                  <a:pt x="141841" y="58757"/>
                  <a:pt x="138064" y="62508"/>
                  <a:pt x="133454" y="62508"/>
                </a:cubicBezTo>
                <a:close/>
                <a:moveTo>
                  <a:pt x="57976" y="9689"/>
                </a:moveTo>
                <a:cubicBezTo>
                  <a:pt x="62690" y="8699"/>
                  <a:pt x="66779" y="12554"/>
                  <a:pt x="66779" y="17372"/>
                </a:cubicBezTo>
                <a:lnTo>
                  <a:pt x="66779" y="68759"/>
                </a:lnTo>
                <a:cubicBezTo>
                  <a:pt x="66779" y="70217"/>
                  <a:pt x="67300" y="71624"/>
                  <a:pt x="68212" y="72743"/>
                </a:cubicBezTo>
                <a:lnTo>
                  <a:pt x="102617" y="114259"/>
                </a:lnTo>
                <a:cubicBezTo>
                  <a:pt x="105664" y="117931"/>
                  <a:pt x="105013" y="123479"/>
                  <a:pt x="100820" y="125745"/>
                </a:cubicBezTo>
                <a:cubicBezTo>
                  <a:pt x="91939" y="130589"/>
                  <a:pt x="81755" y="133350"/>
                  <a:pt x="70946" y="133350"/>
                </a:cubicBezTo>
                <a:cubicBezTo>
                  <a:pt x="36437" y="133350"/>
                  <a:pt x="8439" y="105352"/>
                  <a:pt x="8439" y="70842"/>
                </a:cubicBezTo>
                <a:cubicBezTo>
                  <a:pt x="8439" y="40760"/>
                  <a:pt x="29665" y="15653"/>
                  <a:pt x="57976" y="9689"/>
                </a:cubicBezTo>
                <a:close/>
                <a:moveTo>
                  <a:pt x="124443" y="75009"/>
                </a:moveTo>
                <a:lnTo>
                  <a:pt x="141111" y="75009"/>
                </a:lnTo>
                <a:cubicBezTo>
                  <a:pt x="145930" y="75009"/>
                  <a:pt x="149784" y="79098"/>
                  <a:pt x="148795" y="83813"/>
                </a:cubicBezTo>
                <a:cubicBezTo>
                  <a:pt x="146138" y="96418"/>
                  <a:pt x="139679" y="107618"/>
                  <a:pt x="130667" y="116160"/>
                </a:cubicBezTo>
                <a:cubicBezTo>
                  <a:pt x="127464" y="119208"/>
                  <a:pt x="122437" y="118556"/>
                  <a:pt x="119624" y="115145"/>
                </a:cubicBezTo>
                <a:lnTo>
                  <a:pt x="97642" y="88657"/>
                </a:lnTo>
                <a:cubicBezTo>
                  <a:pt x="93137" y="83214"/>
                  <a:pt x="97017" y="75009"/>
                  <a:pt x="104049" y="75009"/>
                </a:cubicBezTo>
                <a:lnTo>
                  <a:pt x="124417" y="75009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3" name="Text 31"/>
          <p:cNvSpPr/>
          <p:nvPr/>
        </p:nvSpPr>
        <p:spPr>
          <a:xfrm>
            <a:off x="4851321" y="310515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Optimization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51321" y="337185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insights enable better resource allocation and priority-based issue resolution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32221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11993" y="43148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67" y="25290"/>
                </a:moveTo>
                <a:lnTo>
                  <a:pt x="58367" y="38208"/>
                </a:lnTo>
                <a:lnTo>
                  <a:pt x="58497" y="38338"/>
                </a:lnTo>
                <a:cubicBezTo>
                  <a:pt x="60190" y="16877"/>
                  <a:pt x="78135" y="0"/>
                  <a:pt x="100039" y="0"/>
                </a:cubicBezTo>
                <a:cubicBezTo>
                  <a:pt x="105274" y="0"/>
                  <a:pt x="110300" y="964"/>
                  <a:pt x="114910" y="2735"/>
                </a:cubicBezTo>
                <a:cubicBezTo>
                  <a:pt x="117515" y="3724"/>
                  <a:pt x="117983" y="7032"/>
                  <a:pt x="116030" y="9012"/>
                </a:cubicBezTo>
                <a:lnTo>
                  <a:pt x="92928" y="32113"/>
                </a:lnTo>
                <a:cubicBezTo>
                  <a:pt x="92147" y="32895"/>
                  <a:pt x="91704" y="33963"/>
                  <a:pt x="91704" y="35056"/>
                </a:cubicBezTo>
                <a:lnTo>
                  <a:pt x="91704" y="45839"/>
                </a:lnTo>
                <a:cubicBezTo>
                  <a:pt x="91704" y="48131"/>
                  <a:pt x="93579" y="50006"/>
                  <a:pt x="95871" y="50006"/>
                </a:cubicBezTo>
                <a:lnTo>
                  <a:pt x="106654" y="50006"/>
                </a:lnTo>
                <a:cubicBezTo>
                  <a:pt x="107748" y="50006"/>
                  <a:pt x="108816" y="49563"/>
                  <a:pt x="109597" y="48782"/>
                </a:cubicBezTo>
                <a:lnTo>
                  <a:pt x="132699" y="25680"/>
                </a:lnTo>
                <a:cubicBezTo>
                  <a:pt x="134678" y="23701"/>
                  <a:pt x="137986" y="24196"/>
                  <a:pt x="138976" y="26800"/>
                </a:cubicBezTo>
                <a:cubicBezTo>
                  <a:pt x="140747" y="31410"/>
                  <a:pt x="141710" y="36437"/>
                  <a:pt x="141710" y="41672"/>
                </a:cubicBezTo>
                <a:cubicBezTo>
                  <a:pt x="141710" y="57455"/>
                  <a:pt x="132933" y="71207"/>
                  <a:pt x="119963" y="78265"/>
                </a:cubicBezTo>
                <a:lnTo>
                  <a:pt x="141190" y="99492"/>
                </a:lnTo>
                <a:cubicBezTo>
                  <a:pt x="146060" y="104362"/>
                  <a:pt x="146060" y="112280"/>
                  <a:pt x="141190" y="117176"/>
                </a:cubicBezTo>
                <a:lnTo>
                  <a:pt x="125537" y="132829"/>
                </a:lnTo>
                <a:cubicBezTo>
                  <a:pt x="120666" y="137700"/>
                  <a:pt x="112748" y="137700"/>
                  <a:pt x="107852" y="132829"/>
                </a:cubicBezTo>
                <a:lnTo>
                  <a:pt x="75035" y="100013"/>
                </a:lnTo>
                <a:cubicBezTo>
                  <a:pt x="67899" y="92876"/>
                  <a:pt x="66284" y="82328"/>
                  <a:pt x="70217" y="73629"/>
                </a:cubicBezTo>
                <a:lnTo>
                  <a:pt x="46594" y="50006"/>
                </a:lnTo>
                <a:lnTo>
                  <a:pt x="33676" y="50006"/>
                </a:lnTo>
                <a:cubicBezTo>
                  <a:pt x="30889" y="50006"/>
                  <a:pt x="28285" y="48626"/>
                  <a:pt x="26748" y="46308"/>
                </a:cubicBezTo>
                <a:lnTo>
                  <a:pt x="6095" y="15340"/>
                </a:lnTo>
                <a:cubicBezTo>
                  <a:pt x="5001" y="13700"/>
                  <a:pt x="5209" y="11486"/>
                  <a:pt x="6615" y="10079"/>
                </a:cubicBezTo>
                <a:lnTo>
                  <a:pt x="18440" y="-1745"/>
                </a:lnTo>
                <a:cubicBezTo>
                  <a:pt x="19846" y="-3151"/>
                  <a:pt x="22034" y="-3360"/>
                  <a:pt x="23701" y="-2266"/>
                </a:cubicBezTo>
                <a:lnTo>
                  <a:pt x="54668" y="18362"/>
                </a:lnTo>
                <a:cubicBezTo>
                  <a:pt x="56986" y="19898"/>
                  <a:pt x="58367" y="22503"/>
                  <a:pt x="58367" y="25290"/>
                </a:cubicBezTo>
                <a:close/>
                <a:moveTo>
                  <a:pt x="56153" y="77249"/>
                </a:moveTo>
                <a:cubicBezTo>
                  <a:pt x="54512" y="86886"/>
                  <a:pt x="56778" y="97069"/>
                  <a:pt x="63029" y="105221"/>
                </a:cubicBezTo>
                <a:lnTo>
                  <a:pt x="38286" y="129938"/>
                </a:lnTo>
                <a:cubicBezTo>
                  <a:pt x="30967" y="137257"/>
                  <a:pt x="19091" y="137257"/>
                  <a:pt x="11772" y="129938"/>
                </a:cubicBezTo>
                <a:cubicBezTo>
                  <a:pt x="4454" y="122619"/>
                  <a:pt x="4454" y="110743"/>
                  <a:pt x="11772" y="103424"/>
                </a:cubicBezTo>
                <a:lnTo>
                  <a:pt x="47037" y="68160"/>
                </a:lnTo>
                <a:lnTo>
                  <a:pt x="56153" y="77275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37" name="Text 35"/>
          <p:cNvSpPr/>
          <p:nvPr/>
        </p:nvSpPr>
        <p:spPr>
          <a:xfrm>
            <a:off x="4851321" y="42291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Efficiency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51321" y="449580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maintenance based on complaint patterns reduces long-term infrastructure costs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21611" y="1181100"/>
            <a:ext cx="3686175" cy="4210050"/>
          </a:xfrm>
          <a:custGeom>
            <a:avLst/>
            <a:gdLst/>
            <a:ahLst/>
            <a:cxnLst/>
            <a:rect l="l" t="t" r="r" b="b"/>
            <a:pathLst>
              <a:path w="3686175" h="4210050">
                <a:moveTo>
                  <a:pt x="38100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095742"/>
                </a:lnTo>
                <a:cubicBezTo>
                  <a:pt x="3686175" y="4158872"/>
                  <a:pt x="3634997" y="4210050"/>
                  <a:pt x="3571867" y="4210050"/>
                </a:cubicBezTo>
                <a:lnTo>
                  <a:pt x="38100" y="4210050"/>
                </a:lnTo>
                <a:cubicBezTo>
                  <a:pt x="17072" y="4210050"/>
                  <a:pt x="0" y="4192978"/>
                  <a:pt x="0" y="4171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21611" y="1181100"/>
            <a:ext cx="38100" cy="4210050"/>
          </a:xfrm>
          <a:custGeom>
            <a:avLst/>
            <a:gdLst/>
            <a:ahLst/>
            <a:cxnLst/>
            <a:rect l="l" t="t" r="r" b="b"/>
            <a:pathLst>
              <a:path w="38100" h="4210050">
                <a:moveTo>
                  <a:pt x="38100" y="0"/>
                </a:moveTo>
                <a:lnTo>
                  <a:pt x="38100" y="0"/>
                </a:lnTo>
                <a:lnTo>
                  <a:pt x="38100" y="4210050"/>
                </a:lnTo>
                <a:lnTo>
                  <a:pt x="38100" y="4210050"/>
                </a:lnTo>
                <a:cubicBezTo>
                  <a:pt x="17072" y="4210050"/>
                  <a:pt x="0" y="4192978"/>
                  <a:pt x="0" y="4171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1" name="Shape 39"/>
          <p:cNvSpPr/>
          <p:nvPr/>
        </p:nvSpPr>
        <p:spPr>
          <a:xfrm>
            <a:off x="8293061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45461" y="148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3" name="Text 41"/>
          <p:cNvSpPr/>
          <p:nvPr/>
        </p:nvSpPr>
        <p:spPr>
          <a:xfrm>
            <a:off x="8940761" y="14668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Environmental Impact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93061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5" name="Shape 43"/>
          <p:cNvSpPr/>
          <p:nvPr/>
        </p:nvSpPr>
        <p:spPr>
          <a:xfrm>
            <a:off x="8389501" y="20669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5603" y="1537"/>
                </a:moveTo>
                <a:cubicBezTo>
                  <a:pt x="36749" y="-1875"/>
                  <a:pt x="39927" y="-4167"/>
                  <a:pt x="43521" y="-4167"/>
                </a:cubicBezTo>
                <a:lnTo>
                  <a:pt x="73186" y="-4167"/>
                </a:lnTo>
                <a:cubicBezTo>
                  <a:pt x="76780" y="-4167"/>
                  <a:pt x="79958" y="-1875"/>
                  <a:pt x="81104" y="1537"/>
                </a:cubicBezTo>
                <a:lnTo>
                  <a:pt x="83344" y="8334"/>
                </a:lnTo>
                <a:lnTo>
                  <a:pt x="108347" y="8334"/>
                </a:lnTo>
                <a:cubicBezTo>
                  <a:pt x="112957" y="8334"/>
                  <a:pt x="116681" y="12059"/>
                  <a:pt x="116681" y="16669"/>
                </a:cubicBezTo>
                <a:cubicBezTo>
                  <a:pt x="116681" y="21279"/>
                  <a:pt x="112957" y="25003"/>
                  <a:pt x="108347" y="25003"/>
                </a:cubicBezTo>
                <a:lnTo>
                  <a:pt x="8334" y="25003"/>
                </a:lnTo>
                <a:cubicBezTo>
                  <a:pt x="3724" y="25003"/>
                  <a:pt x="0" y="21279"/>
                  <a:pt x="0" y="16669"/>
                </a:cubicBezTo>
                <a:cubicBezTo>
                  <a:pt x="0" y="12059"/>
                  <a:pt x="3724" y="8334"/>
                  <a:pt x="8334" y="8334"/>
                </a:cubicBezTo>
                <a:lnTo>
                  <a:pt x="33337" y="8334"/>
                </a:lnTo>
                <a:lnTo>
                  <a:pt x="35603" y="1537"/>
                </a:lnTo>
                <a:close/>
                <a:moveTo>
                  <a:pt x="8334" y="37505"/>
                </a:moveTo>
                <a:lnTo>
                  <a:pt x="108347" y="37505"/>
                </a:lnTo>
                <a:lnTo>
                  <a:pt x="108347" y="116681"/>
                </a:lnTo>
                <a:cubicBezTo>
                  <a:pt x="108347" y="125875"/>
                  <a:pt x="100872" y="133350"/>
                  <a:pt x="91678" y="133350"/>
                </a:cubicBezTo>
                <a:lnTo>
                  <a:pt x="25003" y="133350"/>
                </a:lnTo>
                <a:cubicBezTo>
                  <a:pt x="15809" y="133350"/>
                  <a:pt x="8334" y="125875"/>
                  <a:pt x="8334" y="116681"/>
                </a:cubicBezTo>
                <a:lnTo>
                  <a:pt x="8334" y="37505"/>
                </a:lnTo>
                <a:close/>
                <a:moveTo>
                  <a:pt x="31254" y="54173"/>
                </a:moveTo>
                <a:cubicBezTo>
                  <a:pt x="27790" y="54173"/>
                  <a:pt x="25003" y="56960"/>
                  <a:pt x="25003" y="60424"/>
                </a:cubicBezTo>
                <a:lnTo>
                  <a:pt x="25003" y="110430"/>
                </a:lnTo>
                <a:cubicBezTo>
                  <a:pt x="25003" y="113894"/>
                  <a:pt x="27790" y="116681"/>
                  <a:pt x="31254" y="116681"/>
                </a:cubicBezTo>
                <a:cubicBezTo>
                  <a:pt x="34718" y="116681"/>
                  <a:pt x="37505" y="113894"/>
                  <a:pt x="37505" y="110430"/>
                </a:cubicBezTo>
                <a:lnTo>
                  <a:pt x="37505" y="60424"/>
                </a:lnTo>
                <a:cubicBezTo>
                  <a:pt x="37505" y="56960"/>
                  <a:pt x="34718" y="54173"/>
                  <a:pt x="31254" y="54173"/>
                </a:cubicBezTo>
                <a:close/>
                <a:moveTo>
                  <a:pt x="58341" y="54173"/>
                </a:moveTo>
                <a:cubicBezTo>
                  <a:pt x="54877" y="54173"/>
                  <a:pt x="52090" y="56960"/>
                  <a:pt x="52090" y="60424"/>
                </a:cubicBezTo>
                <a:lnTo>
                  <a:pt x="52090" y="110430"/>
                </a:lnTo>
                <a:cubicBezTo>
                  <a:pt x="52090" y="113894"/>
                  <a:pt x="54877" y="116681"/>
                  <a:pt x="58341" y="116681"/>
                </a:cubicBezTo>
                <a:cubicBezTo>
                  <a:pt x="61805" y="116681"/>
                  <a:pt x="64591" y="113894"/>
                  <a:pt x="64591" y="110430"/>
                </a:cubicBezTo>
                <a:lnTo>
                  <a:pt x="64591" y="60424"/>
                </a:lnTo>
                <a:cubicBezTo>
                  <a:pt x="64591" y="56960"/>
                  <a:pt x="61805" y="54173"/>
                  <a:pt x="58341" y="54173"/>
                </a:cubicBezTo>
                <a:close/>
                <a:moveTo>
                  <a:pt x="85427" y="54173"/>
                </a:moveTo>
                <a:cubicBezTo>
                  <a:pt x="81963" y="54173"/>
                  <a:pt x="79177" y="56960"/>
                  <a:pt x="79177" y="60424"/>
                </a:cubicBezTo>
                <a:lnTo>
                  <a:pt x="79177" y="110430"/>
                </a:lnTo>
                <a:cubicBezTo>
                  <a:pt x="79177" y="113894"/>
                  <a:pt x="81963" y="116681"/>
                  <a:pt x="85427" y="116681"/>
                </a:cubicBezTo>
                <a:cubicBezTo>
                  <a:pt x="88891" y="116681"/>
                  <a:pt x="91678" y="113894"/>
                  <a:pt x="91678" y="110430"/>
                </a:cubicBezTo>
                <a:lnTo>
                  <a:pt x="91678" y="60424"/>
                </a:lnTo>
                <a:cubicBezTo>
                  <a:pt x="91678" y="56960"/>
                  <a:pt x="88891" y="54173"/>
                  <a:pt x="85427" y="541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8712161" y="19812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 Management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12161" y="224790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tracking of sanitation issues leads to cleaner neighborhoods and improved public health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93061" y="3105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49" name="Shape 47"/>
          <p:cNvSpPr/>
          <p:nvPr/>
        </p:nvSpPr>
        <p:spPr>
          <a:xfrm>
            <a:off x="8381167" y="3190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6940" y="32322"/>
                </a:moveTo>
                <a:cubicBezTo>
                  <a:pt x="112332" y="36385"/>
                  <a:pt x="118921" y="40318"/>
                  <a:pt x="126266" y="41307"/>
                </a:cubicBezTo>
                <a:cubicBezTo>
                  <a:pt x="129678" y="41776"/>
                  <a:pt x="132829" y="39354"/>
                  <a:pt x="133298" y="35942"/>
                </a:cubicBezTo>
                <a:cubicBezTo>
                  <a:pt x="133767" y="32530"/>
                  <a:pt x="131345" y="29379"/>
                  <a:pt x="127933" y="28910"/>
                </a:cubicBezTo>
                <a:cubicBezTo>
                  <a:pt x="123792" y="28363"/>
                  <a:pt x="119286" y="25967"/>
                  <a:pt x="114467" y="22347"/>
                </a:cubicBezTo>
                <a:cubicBezTo>
                  <a:pt x="104466" y="14794"/>
                  <a:pt x="90897" y="14794"/>
                  <a:pt x="80869" y="22347"/>
                </a:cubicBezTo>
                <a:cubicBezTo>
                  <a:pt x="74619" y="27061"/>
                  <a:pt x="70269" y="29196"/>
                  <a:pt x="66675" y="29196"/>
                </a:cubicBezTo>
                <a:cubicBezTo>
                  <a:pt x="63081" y="29196"/>
                  <a:pt x="58731" y="27061"/>
                  <a:pt x="52481" y="22347"/>
                </a:cubicBezTo>
                <a:cubicBezTo>
                  <a:pt x="42479" y="14794"/>
                  <a:pt x="28910" y="14794"/>
                  <a:pt x="18883" y="22347"/>
                </a:cubicBezTo>
                <a:cubicBezTo>
                  <a:pt x="14064" y="25967"/>
                  <a:pt x="9558" y="28363"/>
                  <a:pt x="5417" y="28910"/>
                </a:cubicBezTo>
                <a:cubicBezTo>
                  <a:pt x="2005" y="29379"/>
                  <a:pt x="-417" y="32504"/>
                  <a:pt x="52" y="35942"/>
                </a:cubicBezTo>
                <a:cubicBezTo>
                  <a:pt x="521" y="39380"/>
                  <a:pt x="3646" y="41776"/>
                  <a:pt x="7084" y="41307"/>
                </a:cubicBezTo>
                <a:cubicBezTo>
                  <a:pt x="14429" y="40318"/>
                  <a:pt x="21044" y="36385"/>
                  <a:pt x="26410" y="32322"/>
                </a:cubicBezTo>
                <a:cubicBezTo>
                  <a:pt x="31957" y="28129"/>
                  <a:pt x="39406" y="28129"/>
                  <a:pt x="44954" y="32322"/>
                </a:cubicBezTo>
                <a:cubicBezTo>
                  <a:pt x="51256" y="37088"/>
                  <a:pt x="58575" y="41672"/>
                  <a:pt x="66675" y="41672"/>
                </a:cubicBezTo>
                <a:cubicBezTo>
                  <a:pt x="74775" y="41672"/>
                  <a:pt x="82068" y="37062"/>
                  <a:pt x="88396" y="32322"/>
                </a:cubicBezTo>
                <a:cubicBezTo>
                  <a:pt x="93944" y="28129"/>
                  <a:pt x="101393" y="28129"/>
                  <a:pt x="106940" y="32322"/>
                </a:cubicBezTo>
                <a:close/>
                <a:moveTo>
                  <a:pt x="106940" y="69826"/>
                </a:moveTo>
                <a:cubicBezTo>
                  <a:pt x="112332" y="73889"/>
                  <a:pt x="118921" y="77822"/>
                  <a:pt x="126266" y="78812"/>
                </a:cubicBezTo>
                <a:cubicBezTo>
                  <a:pt x="129678" y="79281"/>
                  <a:pt x="132829" y="76859"/>
                  <a:pt x="133298" y="73447"/>
                </a:cubicBezTo>
                <a:cubicBezTo>
                  <a:pt x="133767" y="70035"/>
                  <a:pt x="131345" y="66883"/>
                  <a:pt x="127933" y="66415"/>
                </a:cubicBezTo>
                <a:cubicBezTo>
                  <a:pt x="123792" y="65868"/>
                  <a:pt x="119286" y="63471"/>
                  <a:pt x="114467" y="59851"/>
                </a:cubicBezTo>
                <a:cubicBezTo>
                  <a:pt x="104466" y="52298"/>
                  <a:pt x="90897" y="52298"/>
                  <a:pt x="80869" y="59851"/>
                </a:cubicBezTo>
                <a:cubicBezTo>
                  <a:pt x="74619" y="64565"/>
                  <a:pt x="70269" y="66701"/>
                  <a:pt x="66675" y="66701"/>
                </a:cubicBezTo>
                <a:cubicBezTo>
                  <a:pt x="63081" y="66701"/>
                  <a:pt x="58731" y="64565"/>
                  <a:pt x="52481" y="59851"/>
                </a:cubicBezTo>
                <a:cubicBezTo>
                  <a:pt x="42479" y="52298"/>
                  <a:pt x="28910" y="52298"/>
                  <a:pt x="18883" y="59851"/>
                </a:cubicBezTo>
                <a:cubicBezTo>
                  <a:pt x="14064" y="63471"/>
                  <a:pt x="9558" y="65868"/>
                  <a:pt x="5417" y="66415"/>
                </a:cubicBezTo>
                <a:cubicBezTo>
                  <a:pt x="2005" y="66857"/>
                  <a:pt x="-417" y="70009"/>
                  <a:pt x="52" y="73447"/>
                </a:cubicBezTo>
                <a:cubicBezTo>
                  <a:pt x="521" y="76885"/>
                  <a:pt x="3646" y="79281"/>
                  <a:pt x="7084" y="78812"/>
                </a:cubicBezTo>
                <a:cubicBezTo>
                  <a:pt x="14429" y="77822"/>
                  <a:pt x="21044" y="73889"/>
                  <a:pt x="26410" y="69826"/>
                </a:cubicBezTo>
                <a:cubicBezTo>
                  <a:pt x="31957" y="65633"/>
                  <a:pt x="39406" y="65633"/>
                  <a:pt x="44954" y="69826"/>
                </a:cubicBezTo>
                <a:cubicBezTo>
                  <a:pt x="51256" y="74593"/>
                  <a:pt x="58575" y="79177"/>
                  <a:pt x="66675" y="79177"/>
                </a:cubicBezTo>
                <a:cubicBezTo>
                  <a:pt x="74775" y="79177"/>
                  <a:pt x="82068" y="74567"/>
                  <a:pt x="88396" y="69826"/>
                </a:cubicBezTo>
                <a:cubicBezTo>
                  <a:pt x="93944" y="65633"/>
                  <a:pt x="101393" y="65633"/>
                  <a:pt x="106940" y="69826"/>
                </a:cubicBezTo>
                <a:close/>
                <a:moveTo>
                  <a:pt x="88396" y="107331"/>
                </a:moveTo>
                <a:cubicBezTo>
                  <a:pt x="93944" y="103138"/>
                  <a:pt x="101393" y="103138"/>
                  <a:pt x="106940" y="107331"/>
                </a:cubicBezTo>
                <a:cubicBezTo>
                  <a:pt x="112332" y="111394"/>
                  <a:pt x="118921" y="115327"/>
                  <a:pt x="126266" y="116317"/>
                </a:cubicBezTo>
                <a:cubicBezTo>
                  <a:pt x="129678" y="116785"/>
                  <a:pt x="132829" y="114363"/>
                  <a:pt x="133298" y="110951"/>
                </a:cubicBezTo>
                <a:cubicBezTo>
                  <a:pt x="133767" y="107539"/>
                  <a:pt x="131345" y="104388"/>
                  <a:pt x="127933" y="103919"/>
                </a:cubicBezTo>
                <a:cubicBezTo>
                  <a:pt x="123792" y="103372"/>
                  <a:pt x="119286" y="100976"/>
                  <a:pt x="114467" y="97356"/>
                </a:cubicBezTo>
                <a:cubicBezTo>
                  <a:pt x="104466" y="89803"/>
                  <a:pt x="90897" y="89803"/>
                  <a:pt x="80869" y="97356"/>
                </a:cubicBezTo>
                <a:cubicBezTo>
                  <a:pt x="74619" y="102070"/>
                  <a:pt x="70269" y="104206"/>
                  <a:pt x="66675" y="104206"/>
                </a:cubicBezTo>
                <a:cubicBezTo>
                  <a:pt x="63081" y="104206"/>
                  <a:pt x="58731" y="102070"/>
                  <a:pt x="52481" y="97356"/>
                </a:cubicBezTo>
                <a:cubicBezTo>
                  <a:pt x="42479" y="89803"/>
                  <a:pt x="28910" y="89803"/>
                  <a:pt x="18883" y="97356"/>
                </a:cubicBezTo>
                <a:cubicBezTo>
                  <a:pt x="14064" y="100976"/>
                  <a:pt x="9558" y="103372"/>
                  <a:pt x="5417" y="103919"/>
                </a:cubicBezTo>
                <a:cubicBezTo>
                  <a:pt x="2005" y="104388"/>
                  <a:pt x="-417" y="107513"/>
                  <a:pt x="52" y="110951"/>
                </a:cubicBezTo>
                <a:cubicBezTo>
                  <a:pt x="521" y="114389"/>
                  <a:pt x="3646" y="116785"/>
                  <a:pt x="7084" y="116317"/>
                </a:cubicBezTo>
                <a:cubicBezTo>
                  <a:pt x="14429" y="115327"/>
                  <a:pt x="21044" y="111394"/>
                  <a:pt x="26410" y="107331"/>
                </a:cubicBezTo>
                <a:cubicBezTo>
                  <a:pt x="31957" y="103138"/>
                  <a:pt x="39406" y="103138"/>
                  <a:pt x="44954" y="107331"/>
                </a:cubicBezTo>
                <a:cubicBezTo>
                  <a:pt x="51256" y="112097"/>
                  <a:pt x="58575" y="116681"/>
                  <a:pt x="66675" y="116681"/>
                </a:cubicBezTo>
                <a:cubicBezTo>
                  <a:pt x="74775" y="116681"/>
                  <a:pt x="82068" y="112071"/>
                  <a:pt x="88396" y="1073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8712161" y="310515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Systems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12161" y="337185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drainage and water supply management reduces flooding and waterlogging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93061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53" name="Shape 51"/>
          <p:cNvSpPr/>
          <p:nvPr/>
        </p:nvSpPr>
        <p:spPr>
          <a:xfrm>
            <a:off x="8372833" y="43148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712161" y="42291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 Sustainability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712161" y="449580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infrastructure maintenance reduces urban decay and promotes sustainable development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1000" y="5505450"/>
            <a:ext cx="2771775" cy="1104900"/>
          </a:xfrm>
          <a:custGeom>
            <a:avLst/>
            <a:gdLst/>
            <a:ahLst/>
            <a:cxnLst/>
            <a:rect l="l" t="t" r="r" b="b"/>
            <a:pathLst>
              <a:path w="2771775" h="1104900">
                <a:moveTo>
                  <a:pt x="114302" y="0"/>
                </a:moveTo>
                <a:lnTo>
                  <a:pt x="2657473" y="0"/>
                </a:lnTo>
                <a:cubicBezTo>
                  <a:pt x="2720600" y="0"/>
                  <a:pt x="2771775" y="51175"/>
                  <a:pt x="2771775" y="114302"/>
                </a:cubicBezTo>
                <a:lnTo>
                  <a:pt x="2771775" y="990598"/>
                </a:lnTo>
                <a:cubicBezTo>
                  <a:pt x="2771775" y="1053725"/>
                  <a:pt x="2720600" y="1104900"/>
                  <a:pt x="26574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535C"/>
              </a:gs>
              <a:gs pos="100000">
                <a:srgbClr val="1A535C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57" name="Text 55"/>
          <p:cNvSpPr/>
          <p:nvPr/>
        </p:nvSpPr>
        <p:spPr>
          <a:xfrm>
            <a:off x="409575" y="561975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7B5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57200" y="60388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Resolution Rate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61963" y="63055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Performance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267075" y="5505450"/>
            <a:ext cx="2771775" cy="1104900"/>
          </a:xfrm>
          <a:custGeom>
            <a:avLst/>
            <a:gdLst/>
            <a:ahLst/>
            <a:cxnLst/>
            <a:rect l="l" t="t" r="r" b="b"/>
            <a:pathLst>
              <a:path w="2771775" h="1104900">
                <a:moveTo>
                  <a:pt x="114302" y="0"/>
                </a:moveTo>
                <a:lnTo>
                  <a:pt x="2657473" y="0"/>
                </a:lnTo>
                <a:cubicBezTo>
                  <a:pt x="2720600" y="0"/>
                  <a:pt x="2771775" y="51175"/>
                  <a:pt x="2771775" y="114302"/>
                </a:cubicBezTo>
                <a:lnTo>
                  <a:pt x="2771775" y="990598"/>
                </a:lnTo>
                <a:cubicBezTo>
                  <a:pt x="2771775" y="1053725"/>
                  <a:pt x="2720600" y="1104900"/>
                  <a:pt x="26574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100000">
                <a:srgbClr val="4A7C59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1" name="Text 59"/>
          <p:cNvSpPr/>
          <p:nvPr/>
        </p:nvSpPr>
        <p:spPr>
          <a:xfrm>
            <a:off x="3295650" y="561975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7B5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343275" y="60388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Satisfaction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348038" y="63055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53150" y="5505450"/>
            <a:ext cx="2771775" cy="1104900"/>
          </a:xfrm>
          <a:custGeom>
            <a:avLst/>
            <a:gdLst/>
            <a:ahLst/>
            <a:cxnLst/>
            <a:rect l="l" t="t" r="r" b="b"/>
            <a:pathLst>
              <a:path w="2771775" h="1104900">
                <a:moveTo>
                  <a:pt x="114302" y="0"/>
                </a:moveTo>
                <a:lnTo>
                  <a:pt x="2657473" y="0"/>
                </a:lnTo>
                <a:cubicBezTo>
                  <a:pt x="2720600" y="0"/>
                  <a:pt x="2771775" y="51175"/>
                  <a:pt x="2771775" y="114302"/>
                </a:cubicBezTo>
                <a:lnTo>
                  <a:pt x="2771775" y="990598"/>
                </a:lnTo>
                <a:cubicBezTo>
                  <a:pt x="2771775" y="1053725"/>
                  <a:pt x="2720600" y="1104900"/>
                  <a:pt x="26574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7B538"/>
              </a:gs>
              <a:gs pos="100000">
                <a:srgbClr val="F7B538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65" name="Text 63"/>
          <p:cNvSpPr/>
          <p:nvPr/>
        </p:nvSpPr>
        <p:spPr>
          <a:xfrm>
            <a:off x="6181725" y="561975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229350" y="60388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Score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234113" y="63055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535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Accountability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39225" y="5505450"/>
            <a:ext cx="2771775" cy="1104900"/>
          </a:xfrm>
          <a:custGeom>
            <a:avLst/>
            <a:gdLst/>
            <a:ahLst/>
            <a:cxnLst/>
            <a:rect l="l" t="t" r="r" b="b"/>
            <a:pathLst>
              <a:path w="2771775" h="1104900">
                <a:moveTo>
                  <a:pt x="114302" y="0"/>
                </a:moveTo>
                <a:lnTo>
                  <a:pt x="2657473" y="0"/>
                </a:lnTo>
                <a:cubicBezTo>
                  <a:pt x="2720600" y="0"/>
                  <a:pt x="2771775" y="51175"/>
                  <a:pt x="2771775" y="114302"/>
                </a:cubicBezTo>
                <a:lnTo>
                  <a:pt x="2771775" y="990598"/>
                </a:lnTo>
                <a:cubicBezTo>
                  <a:pt x="2771775" y="1053725"/>
                  <a:pt x="2720600" y="1104900"/>
                  <a:pt x="26574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535C"/>
              </a:gs>
              <a:gs pos="100000">
                <a:srgbClr val="4A7C59"/>
              </a:gs>
            </a:gsLst>
            <a:lin ang="2700000" scaled="1"/>
          </a:gradFill>
          <a:ln/>
        </p:spPr>
      </p:sp>
      <p:sp>
        <p:nvSpPr>
          <p:cNvPr id="69" name="Text 67"/>
          <p:cNvSpPr/>
          <p:nvPr/>
        </p:nvSpPr>
        <p:spPr>
          <a:xfrm>
            <a:off x="9067800" y="5619750"/>
            <a:ext cx="271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7B5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48h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115425" y="603885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Resolution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120188" y="630555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ableau.com/a66171958f7210b52ce08293ba0d5d46c7b0c20f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5793" b="579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535C">
                  <a:alpha val="95000"/>
                </a:srgbClr>
              </a:gs>
              <a:gs pos="50000">
                <a:srgbClr val="1A535C">
                  <a:alpha val="90000"/>
                </a:srgbClr>
              </a:gs>
              <a:gs pos="100000">
                <a:srgbClr val="4A7C59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361950"/>
                </a:lnTo>
                <a:cubicBezTo>
                  <a:pt x="38100" y="372464"/>
                  <a:pt x="29564" y="381000"/>
                  <a:pt x="19050" y="381000"/>
                </a:cubicBezTo>
                <a:lnTo>
                  <a:pt x="19050" y="381000"/>
                </a:lnTo>
                <a:cubicBezTo>
                  <a:pt x="8536" y="381000"/>
                  <a:pt x="0" y="372464"/>
                  <a:pt x="0" y="3619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3810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and References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8382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on proven technologies and established civic tech frameworks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261110"/>
            <a:ext cx="5627370" cy="3293745"/>
          </a:xfrm>
          <a:custGeom>
            <a:avLst/>
            <a:gdLst/>
            <a:ahLst/>
            <a:cxnLst/>
            <a:rect l="l" t="t" r="r" b="b"/>
            <a:pathLst>
              <a:path w="5627370" h="3293745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3179452"/>
                </a:lnTo>
                <a:cubicBezTo>
                  <a:pt x="5627370" y="3242574"/>
                  <a:pt x="5576199" y="3293745"/>
                  <a:pt x="5513077" y="3293745"/>
                </a:cubicBezTo>
                <a:lnTo>
                  <a:pt x="114293" y="3293745"/>
                </a:lnTo>
                <a:cubicBezTo>
                  <a:pt x="51171" y="3293745"/>
                  <a:pt x="0" y="3242574"/>
                  <a:pt x="0" y="317945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9120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9" name="Shape 6"/>
          <p:cNvSpPr/>
          <p:nvPr/>
        </p:nvSpPr>
        <p:spPr>
          <a:xfrm>
            <a:off x="724376" y="15887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10" name="Text 7"/>
          <p:cNvSpPr/>
          <p:nvPr/>
        </p:nvSpPr>
        <p:spPr>
          <a:xfrm>
            <a:off x="1150620" y="1550673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References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8645" y="21031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2" name="Text 9"/>
          <p:cNvSpPr/>
          <p:nvPr/>
        </p:nvSpPr>
        <p:spPr>
          <a:xfrm>
            <a:off x="883920" y="2065023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React.js Documentation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83920" y="2331723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UI development framework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7695" y="26746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5" name="Text 12"/>
          <p:cNvSpPr/>
          <p:nvPr/>
        </p:nvSpPr>
        <p:spPr>
          <a:xfrm>
            <a:off x="883920" y="2636523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Firebase &amp; Firestore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83920" y="2903223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database and cloud storage solutions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8170" y="32461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14288"/>
                </a:moveTo>
                <a:cubicBezTo>
                  <a:pt x="152400" y="10984"/>
                  <a:pt x="150703" y="7918"/>
                  <a:pt x="147876" y="6191"/>
                </a:cubicBezTo>
                <a:cubicBezTo>
                  <a:pt x="145048" y="4465"/>
                  <a:pt x="141565" y="4286"/>
                  <a:pt x="138619" y="5775"/>
                </a:cubicBezTo>
                <a:lnTo>
                  <a:pt x="104031" y="23068"/>
                </a:lnTo>
                <a:lnTo>
                  <a:pt x="50631" y="5239"/>
                </a:lnTo>
                <a:cubicBezTo>
                  <a:pt x="48220" y="4435"/>
                  <a:pt x="45631" y="4614"/>
                  <a:pt x="43369" y="5745"/>
                </a:cubicBezTo>
                <a:lnTo>
                  <a:pt x="5269" y="24795"/>
                </a:lnTo>
                <a:cubicBezTo>
                  <a:pt x="2024" y="26432"/>
                  <a:pt x="0" y="29736"/>
                  <a:pt x="0" y="33338"/>
                </a:cubicBezTo>
                <a:lnTo>
                  <a:pt x="0" y="138113"/>
                </a:lnTo>
                <a:cubicBezTo>
                  <a:pt x="0" y="141416"/>
                  <a:pt x="1697" y="144482"/>
                  <a:pt x="4524" y="146209"/>
                </a:cubicBezTo>
                <a:cubicBezTo>
                  <a:pt x="7352" y="147935"/>
                  <a:pt x="10835" y="148114"/>
                  <a:pt x="13781" y="146625"/>
                </a:cubicBezTo>
                <a:lnTo>
                  <a:pt x="48339" y="129332"/>
                </a:lnTo>
                <a:lnTo>
                  <a:pt x="101739" y="147131"/>
                </a:lnTo>
                <a:cubicBezTo>
                  <a:pt x="104150" y="147935"/>
                  <a:pt x="106740" y="147757"/>
                  <a:pt x="109002" y="146625"/>
                </a:cubicBezTo>
                <a:lnTo>
                  <a:pt x="147102" y="127575"/>
                </a:lnTo>
                <a:cubicBezTo>
                  <a:pt x="150316" y="125968"/>
                  <a:pt x="152370" y="122664"/>
                  <a:pt x="152370" y="119062"/>
                </a:cubicBezTo>
                <a:lnTo>
                  <a:pt x="152370" y="14287"/>
                </a:lnTo>
                <a:close/>
                <a:moveTo>
                  <a:pt x="57150" y="112187"/>
                </a:moveTo>
                <a:lnTo>
                  <a:pt x="57150" y="27503"/>
                </a:lnTo>
                <a:lnTo>
                  <a:pt x="95250" y="40213"/>
                </a:lnTo>
                <a:lnTo>
                  <a:pt x="95250" y="124897"/>
                </a:lnTo>
                <a:lnTo>
                  <a:pt x="57150" y="112187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18" name="Text 15"/>
          <p:cNvSpPr/>
          <p:nvPr/>
        </p:nvSpPr>
        <p:spPr>
          <a:xfrm>
            <a:off x="883920" y="3208023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Leaflet.js &amp; OpenStreetMap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3920" y="3474723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 integration and geolocation services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8645" y="38176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3024" y="3066"/>
                </a:moveTo>
                <a:lnTo>
                  <a:pt x="77123" y="47030"/>
                </a:lnTo>
                <a:cubicBezTo>
                  <a:pt x="68461" y="52804"/>
                  <a:pt x="62954" y="62180"/>
                  <a:pt x="62061" y="72420"/>
                </a:cubicBezTo>
                <a:cubicBezTo>
                  <a:pt x="80605" y="76230"/>
                  <a:pt x="95220" y="90845"/>
                  <a:pt x="99060" y="109418"/>
                </a:cubicBezTo>
                <a:cubicBezTo>
                  <a:pt x="109329" y="108525"/>
                  <a:pt x="118676" y="103019"/>
                  <a:pt x="124450" y="94357"/>
                </a:cubicBezTo>
                <a:lnTo>
                  <a:pt x="168384" y="28426"/>
                </a:lnTo>
                <a:cubicBezTo>
                  <a:pt x="170378" y="25420"/>
                  <a:pt x="171450" y="21908"/>
                  <a:pt x="171450" y="18276"/>
                </a:cubicBezTo>
                <a:cubicBezTo>
                  <a:pt x="171450" y="8186"/>
                  <a:pt x="163264" y="0"/>
                  <a:pt x="153174" y="0"/>
                </a:cubicBezTo>
                <a:cubicBezTo>
                  <a:pt x="149572" y="0"/>
                  <a:pt x="146030" y="1072"/>
                  <a:pt x="143024" y="3066"/>
                </a:cubicBezTo>
                <a:close/>
                <a:moveTo>
                  <a:pt x="85725" y="119062"/>
                </a:moveTo>
                <a:cubicBezTo>
                  <a:pt x="85725" y="100638"/>
                  <a:pt x="70812" y="85725"/>
                  <a:pt x="52388" y="85725"/>
                </a:cubicBezTo>
                <a:cubicBezTo>
                  <a:pt x="33963" y="85725"/>
                  <a:pt x="19050" y="100638"/>
                  <a:pt x="19050" y="119062"/>
                </a:cubicBezTo>
                <a:cubicBezTo>
                  <a:pt x="19050" y="120223"/>
                  <a:pt x="19110" y="121384"/>
                  <a:pt x="19229" y="122515"/>
                </a:cubicBezTo>
                <a:cubicBezTo>
                  <a:pt x="19764" y="127724"/>
                  <a:pt x="16192" y="133350"/>
                  <a:pt x="10954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52388" y="152400"/>
                </a:lnTo>
                <a:cubicBezTo>
                  <a:pt x="70812" y="152400"/>
                  <a:pt x="85725" y="137487"/>
                  <a:pt x="85725" y="119062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1" name="Text 18"/>
          <p:cNvSpPr/>
          <p:nvPr/>
        </p:nvSpPr>
        <p:spPr>
          <a:xfrm>
            <a:off x="883920" y="3779523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3920" y="4046223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Utility-first CSS framework for responsive design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6010" y="1261110"/>
            <a:ext cx="5627370" cy="3293745"/>
          </a:xfrm>
          <a:custGeom>
            <a:avLst/>
            <a:gdLst/>
            <a:ahLst/>
            <a:cxnLst/>
            <a:rect l="l" t="t" r="r" b="b"/>
            <a:pathLst>
              <a:path w="5627370" h="3293745">
                <a:moveTo>
                  <a:pt x="114293" y="0"/>
                </a:moveTo>
                <a:lnTo>
                  <a:pt x="5513077" y="0"/>
                </a:lnTo>
                <a:cubicBezTo>
                  <a:pt x="5576199" y="0"/>
                  <a:pt x="5627370" y="51171"/>
                  <a:pt x="5627370" y="114293"/>
                </a:cubicBezTo>
                <a:lnTo>
                  <a:pt x="5627370" y="3179452"/>
                </a:lnTo>
                <a:cubicBezTo>
                  <a:pt x="5627370" y="3242574"/>
                  <a:pt x="5576199" y="3293745"/>
                  <a:pt x="5513077" y="3293745"/>
                </a:cubicBezTo>
                <a:lnTo>
                  <a:pt x="114293" y="3293745"/>
                </a:lnTo>
                <a:cubicBezTo>
                  <a:pt x="51171" y="3293745"/>
                  <a:pt x="0" y="3242574"/>
                  <a:pt x="0" y="317945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70320" y="1455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5" name="Shape 22"/>
          <p:cNvSpPr/>
          <p:nvPr/>
        </p:nvSpPr>
        <p:spPr>
          <a:xfrm>
            <a:off x="6503670" y="1588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26" name="Text 23"/>
          <p:cNvSpPr/>
          <p:nvPr/>
        </p:nvSpPr>
        <p:spPr>
          <a:xfrm>
            <a:off x="6941820" y="1550673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Civic Tech &amp; Policy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79845" y="21031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0" y="0"/>
                </a:moveTo>
                <a:cubicBezTo>
                  <a:pt x="84743" y="0"/>
                  <a:pt x="76200" y="8543"/>
                  <a:pt x="76200" y="19050"/>
                </a:cubicBezTo>
                <a:lnTo>
                  <a:pt x="76200" y="28575"/>
                </a:lnTo>
                <a:lnTo>
                  <a:pt x="61912" y="28575"/>
                </a:lnTo>
                <a:lnTo>
                  <a:pt x="61912" y="7144"/>
                </a:lnTo>
                <a:cubicBezTo>
                  <a:pt x="61912" y="3185"/>
                  <a:pt x="58728" y="0"/>
                  <a:pt x="54769" y="0"/>
                </a:cubicBezTo>
                <a:cubicBezTo>
                  <a:pt x="50810" y="0"/>
                  <a:pt x="47625" y="3185"/>
                  <a:pt x="47625" y="7144"/>
                </a:cubicBezTo>
                <a:lnTo>
                  <a:pt x="47625" y="28575"/>
                </a:lnTo>
                <a:lnTo>
                  <a:pt x="28575" y="28575"/>
                </a:lnTo>
                <a:lnTo>
                  <a:pt x="28575" y="7144"/>
                </a:lnTo>
                <a:cubicBezTo>
                  <a:pt x="28575" y="3185"/>
                  <a:pt x="25390" y="0"/>
                  <a:pt x="21431" y="0"/>
                </a:cubicBezTo>
                <a:cubicBezTo>
                  <a:pt x="17472" y="0"/>
                  <a:pt x="14288" y="3185"/>
                  <a:pt x="14288" y="7144"/>
                </a:cubicBezTo>
                <a:lnTo>
                  <a:pt x="14288" y="29170"/>
                </a:lnTo>
                <a:cubicBezTo>
                  <a:pt x="6072" y="31284"/>
                  <a:pt x="0" y="38755"/>
                  <a:pt x="0" y="47625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152400" y="152400"/>
                </a:lnTo>
                <a:cubicBezTo>
                  <a:pt x="162907" y="152400"/>
                  <a:pt x="171450" y="143857"/>
                  <a:pt x="171450" y="133350"/>
                </a:cubicBezTo>
                <a:lnTo>
                  <a:pt x="171450" y="76200"/>
                </a:lnTo>
                <a:cubicBezTo>
                  <a:pt x="171450" y="65693"/>
                  <a:pt x="162907" y="57150"/>
                  <a:pt x="152400" y="57150"/>
                </a:cubicBezTo>
                <a:lnTo>
                  <a:pt x="133350" y="57150"/>
                </a:lnTo>
                <a:lnTo>
                  <a:pt x="133350" y="19050"/>
                </a:lnTo>
                <a:cubicBezTo>
                  <a:pt x="133350" y="8543"/>
                  <a:pt x="124807" y="0"/>
                  <a:pt x="114300" y="0"/>
                </a:cubicBezTo>
                <a:lnTo>
                  <a:pt x="95250" y="0"/>
                </a:lnTo>
                <a:close/>
                <a:moveTo>
                  <a:pt x="114300" y="33338"/>
                </a:moveTo>
                <a:lnTo>
                  <a:pt x="114300" y="42863"/>
                </a:lnTo>
                <a:cubicBezTo>
                  <a:pt x="114300" y="45482"/>
                  <a:pt x="112157" y="47625"/>
                  <a:pt x="109537" y="47625"/>
                </a:cubicBezTo>
                <a:lnTo>
                  <a:pt x="100013" y="47625"/>
                </a:lnTo>
                <a:cubicBezTo>
                  <a:pt x="97393" y="47625"/>
                  <a:pt x="95250" y="45482"/>
                  <a:pt x="95250" y="42863"/>
                </a:cubicBezTo>
                <a:lnTo>
                  <a:pt x="95250" y="33338"/>
                </a:lnTo>
                <a:cubicBezTo>
                  <a:pt x="95250" y="30718"/>
                  <a:pt x="97393" y="28575"/>
                  <a:pt x="100013" y="28575"/>
                </a:cubicBezTo>
                <a:lnTo>
                  <a:pt x="109537" y="28575"/>
                </a:lnTo>
                <a:cubicBezTo>
                  <a:pt x="112157" y="28575"/>
                  <a:pt x="114300" y="30718"/>
                  <a:pt x="114300" y="33338"/>
                </a:cubicBezTo>
                <a:close/>
                <a:moveTo>
                  <a:pt x="109537" y="57150"/>
                </a:moveTo>
                <a:cubicBezTo>
                  <a:pt x="112157" y="57150"/>
                  <a:pt x="114300" y="59293"/>
                  <a:pt x="114300" y="61912"/>
                </a:cubicBezTo>
                <a:lnTo>
                  <a:pt x="114300" y="71438"/>
                </a:lnTo>
                <a:cubicBezTo>
                  <a:pt x="114300" y="74057"/>
                  <a:pt x="112157" y="76200"/>
                  <a:pt x="109537" y="76200"/>
                </a:cubicBezTo>
                <a:lnTo>
                  <a:pt x="100013" y="76200"/>
                </a:lnTo>
                <a:cubicBezTo>
                  <a:pt x="97393" y="76200"/>
                  <a:pt x="95250" y="74057"/>
                  <a:pt x="95250" y="71438"/>
                </a:cubicBezTo>
                <a:lnTo>
                  <a:pt x="95250" y="61912"/>
                </a:lnTo>
                <a:cubicBezTo>
                  <a:pt x="95250" y="59293"/>
                  <a:pt x="97393" y="57150"/>
                  <a:pt x="100013" y="57150"/>
                </a:cubicBezTo>
                <a:lnTo>
                  <a:pt x="109537" y="57150"/>
                </a:lnTo>
                <a:close/>
                <a:moveTo>
                  <a:pt x="114300" y="90488"/>
                </a:moveTo>
                <a:lnTo>
                  <a:pt x="114300" y="100013"/>
                </a:lnTo>
                <a:cubicBezTo>
                  <a:pt x="114300" y="102632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2632"/>
                  <a:pt x="95250" y="100013"/>
                </a:cubicBezTo>
                <a:lnTo>
                  <a:pt x="95250" y="90488"/>
                </a:lnTo>
                <a:cubicBezTo>
                  <a:pt x="95250" y="87868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7868"/>
                  <a:pt x="114300" y="90488"/>
                </a:cubicBezTo>
                <a:close/>
                <a:moveTo>
                  <a:pt x="147638" y="85725"/>
                </a:moveTo>
                <a:cubicBezTo>
                  <a:pt x="150257" y="85725"/>
                  <a:pt x="152400" y="87868"/>
                  <a:pt x="152400" y="90488"/>
                </a:cubicBezTo>
                <a:lnTo>
                  <a:pt x="152400" y="100013"/>
                </a:lnTo>
                <a:cubicBezTo>
                  <a:pt x="152400" y="102632"/>
                  <a:pt x="150257" y="104775"/>
                  <a:pt x="147638" y="104775"/>
                </a:cubicBezTo>
                <a:lnTo>
                  <a:pt x="138113" y="104775"/>
                </a:lnTo>
                <a:cubicBezTo>
                  <a:pt x="135493" y="104775"/>
                  <a:pt x="133350" y="102632"/>
                  <a:pt x="133350" y="100013"/>
                </a:cubicBezTo>
                <a:lnTo>
                  <a:pt x="133350" y="90488"/>
                </a:lnTo>
                <a:cubicBezTo>
                  <a:pt x="133350" y="87868"/>
                  <a:pt x="135493" y="85725"/>
                  <a:pt x="138113" y="85725"/>
                </a:cubicBezTo>
                <a:lnTo>
                  <a:pt x="147638" y="85725"/>
                </a:lnTo>
                <a:close/>
                <a:moveTo>
                  <a:pt x="76200" y="90488"/>
                </a:moveTo>
                <a:lnTo>
                  <a:pt x="76200" y="100013"/>
                </a:lnTo>
                <a:cubicBezTo>
                  <a:pt x="76200" y="102632"/>
                  <a:pt x="74057" y="104775"/>
                  <a:pt x="71438" y="104775"/>
                </a:cubicBezTo>
                <a:lnTo>
                  <a:pt x="61912" y="104775"/>
                </a:lnTo>
                <a:cubicBezTo>
                  <a:pt x="59293" y="104775"/>
                  <a:pt x="57150" y="102632"/>
                  <a:pt x="57150" y="100013"/>
                </a:cubicBezTo>
                <a:lnTo>
                  <a:pt x="57150" y="90488"/>
                </a:lnTo>
                <a:cubicBezTo>
                  <a:pt x="57150" y="87868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7868"/>
                  <a:pt x="76200" y="90488"/>
                </a:cubicBezTo>
                <a:close/>
                <a:moveTo>
                  <a:pt x="71438" y="57150"/>
                </a:moveTo>
                <a:cubicBezTo>
                  <a:pt x="74057" y="57150"/>
                  <a:pt x="76200" y="59293"/>
                  <a:pt x="76200" y="61912"/>
                </a:cubicBezTo>
                <a:lnTo>
                  <a:pt x="76200" y="71438"/>
                </a:lnTo>
                <a:cubicBezTo>
                  <a:pt x="76200" y="74057"/>
                  <a:pt x="74057" y="76200"/>
                  <a:pt x="71438" y="76200"/>
                </a:cubicBezTo>
                <a:lnTo>
                  <a:pt x="61912" y="76200"/>
                </a:lnTo>
                <a:cubicBezTo>
                  <a:pt x="59293" y="76200"/>
                  <a:pt x="57150" y="74057"/>
                  <a:pt x="57150" y="71438"/>
                </a:cubicBezTo>
                <a:lnTo>
                  <a:pt x="57150" y="61912"/>
                </a:lnTo>
                <a:cubicBezTo>
                  <a:pt x="57150" y="59293"/>
                  <a:pt x="59293" y="57150"/>
                  <a:pt x="61912" y="57150"/>
                </a:cubicBezTo>
                <a:lnTo>
                  <a:pt x="71438" y="57150"/>
                </a:lnTo>
                <a:close/>
                <a:moveTo>
                  <a:pt x="38100" y="90488"/>
                </a:moveTo>
                <a:lnTo>
                  <a:pt x="38100" y="100013"/>
                </a:lnTo>
                <a:cubicBezTo>
                  <a:pt x="38100" y="102632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2632"/>
                  <a:pt x="19050" y="100013"/>
                </a:cubicBezTo>
                <a:lnTo>
                  <a:pt x="19050" y="90488"/>
                </a:lnTo>
                <a:cubicBezTo>
                  <a:pt x="19050" y="87868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7868"/>
                  <a:pt x="38100" y="90488"/>
                </a:cubicBezTo>
                <a:close/>
                <a:moveTo>
                  <a:pt x="33338" y="57150"/>
                </a:moveTo>
                <a:cubicBezTo>
                  <a:pt x="35957" y="57150"/>
                  <a:pt x="38100" y="59293"/>
                  <a:pt x="38100" y="61912"/>
                </a:cubicBezTo>
                <a:lnTo>
                  <a:pt x="38100" y="71438"/>
                </a:lnTo>
                <a:cubicBezTo>
                  <a:pt x="38100" y="74057"/>
                  <a:pt x="35957" y="76200"/>
                  <a:pt x="33338" y="76200"/>
                </a:cubicBezTo>
                <a:lnTo>
                  <a:pt x="23813" y="76200"/>
                </a:lnTo>
                <a:cubicBezTo>
                  <a:pt x="21193" y="76200"/>
                  <a:pt x="19050" y="74057"/>
                  <a:pt x="19050" y="71438"/>
                </a:cubicBezTo>
                <a:lnTo>
                  <a:pt x="19050" y="61912"/>
                </a:lnTo>
                <a:cubicBezTo>
                  <a:pt x="19050" y="59293"/>
                  <a:pt x="21193" y="57150"/>
                  <a:pt x="23813" y="57150"/>
                </a:cubicBezTo>
                <a:lnTo>
                  <a:pt x="33338" y="57150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0" y="2065023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City Mission India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675120" y="2331723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initiative for urban transformation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79845" y="26746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38100"/>
                </a:moveTo>
                <a:cubicBezTo>
                  <a:pt x="0" y="27593"/>
                  <a:pt x="8543" y="19050"/>
                  <a:pt x="19050" y="19050"/>
                </a:cubicBezTo>
                <a:lnTo>
                  <a:pt x="152400" y="19050"/>
                </a:lnTo>
                <a:cubicBezTo>
                  <a:pt x="162907" y="19050"/>
                  <a:pt x="171450" y="27593"/>
                  <a:pt x="171450" y="38100"/>
                </a:cubicBezTo>
                <a:lnTo>
                  <a:pt x="171450" y="114300"/>
                </a:lnTo>
                <a:cubicBezTo>
                  <a:pt x="171450" y="124807"/>
                  <a:pt x="162907" y="133350"/>
                  <a:pt x="152400" y="133350"/>
                </a:cubicBezTo>
                <a:lnTo>
                  <a:pt x="19050" y="133350"/>
                </a:lnTo>
                <a:cubicBezTo>
                  <a:pt x="8543" y="133350"/>
                  <a:pt x="0" y="124807"/>
                  <a:pt x="0" y="114300"/>
                </a:cubicBezTo>
                <a:lnTo>
                  <a:pt x="0" y="38100"/>
                </a:lnTo>
                <a:close/>
                <a:moveTo>
                  <a:pt x="19050" y="47625"/>
                </a:moveTo>
                <a:lnTo>
                  <a:pt x="19050" y="57150"/>
                </a:lnTo>
                <a:cubicBezTo>
                  <a:pt x="19050" y="62419"/>
                  <a:pt x="23306" y="66675"/>
                  <a:pt x="28575" y="66675"/>
                </a:cubicBezTo>
                <a:lnTo>
                  <a:pt x="76200" y="66675"/>
                </a:lnTo>
                <a:cubicBezTo>
                  <a:pt x="81469" y="66675"/>
                  <a:pt x="85725" y="62419"/>
                  <a:pt x="85725" y="57150"/>
                </a:cubicBezTo>
                <a:lnTo>
                  <a:pt x="85725" y="47625"/>
                </a:lnTo>
                <a:cubicBezTo>
                  <a:pt x="85725" y="42356"/>
                  <a:pt x="81469" y="38100"/>
                  <a:pt x="76200" y="38100"/>
                </a:cubicBezTo>
                <a:lnTo>
                  <a:pt x="28575" y="38100"/>
                </a:lnTo>
                <a:cubicBezTo>
                  <a:pt x="23306" y="38100"/>
                  <a:pt x="19050" y="42356"/>
                  <a:pt x="19050" y="47625"/>
                </a:cubicBezTo>
                <a:close/>
                <a:moveTo>
                  <a:pt x="26194" y="104775"/>
                </a:moveTo>
                <a:cubicBezTo>
                  <a:pt x="22235" y="104775"/>
                  <a:pt x="19050" y="107960"/>
                  <a:pt x="19050" y="111919"/>
                </a:cubicBezTo>
                <a:cubicBezTo>
                  <a:pt x="19050" y="115878"/>
                  <a:pt x="22235" y="119062"/>
                  <a:pt x="26194" y="119062"/>
                </a:cubicBezTo>
                <a:lnTo>
                  <a:pt x="66675" y="119062"/>
                </a:lnTo>
                <a:cubicBezTo>
                  <a:pt x="70634" y="119062"/>
                  <a:pt x="73819" y="115878"/>
                  <a:pt x="73819" y="111919"/>
                </a:cubicBezTo>
                <a:cubicBezTo>
                  <a:pt x="73819" y="107960"/>
                  <a:pt x="70634" y="104775"/>
                  <a:pt x="66675" y="104775"/>
                </a:cubicBezTo>
                <a:lnTo>
                  <a:pt x="26194" y="104775"/>
                </a:lnTo>
                <a:close/>
                <a:moveTo>
                  <a:pt x="102394" y="104775"/>
                </a:moveTo>
                <a:cubicBezTo>
                  <a:pt x="98435" y="104775"/>
                  <a:pt x="95250" y="107960"/>
                  <a:pt x="95250" y="111919"/>
                </a:cubicBezTo>
                <a:cubicBezTo>
                  <a:pt x="95250" y="115878"/>
                  <a:pt x="98435" y="119062"/>
                  <a:pt x="102394" y="119062"/>
                </a:cubicBezTo>
                <a:lnTo>
                  <a:pt x="145256" y="119062"/>
                </a:lnTo>
                <a:cubicBezTo>
                  <a:pt x="149215" y="119062"/>
                  <a:pt x="152400" y="115878"/>
                  <a:pt x="152400" y="111919"/>
                </a:cubicBezTo>
                <a:cubicBezTo>
                  <a:pt x="152400" y="107960"/>
                  <a:pt x="149215" y="104775"/>
                  <a:pt x="145256" y="104775"/>
                </a:cubicBezTo>
                <a:lnTo>
                  <a:pt x="102394" y="104775"/>
                </a:lnTo>
                <a:close/>
                <a:moveTo>
                  <a:pt x="147638" y="57150"/>
                </a:moveTo>
                <a:cubicBezTo>
                  <a:pt x="147638" y="46636"/>
                  <a:pt x="139101" y="38100"/>
                  <a:pt x="128588" y="38100"/>
                </a:cubicBezTo>
                <a:cubicBezTo>
                  <a:pt x="118074" y="38100"/>
                  <a:pt x="109537" y="46636"/>
                  <a:pt x="109537" y="57150"/>
                </a:cubicBezTo>
                <a:cubicBezTo>
                  <a:pt x="109537" y="67664"/>
                  <a:pt x="118074" y="76200"/>
                  <a:pt x="128588" y="76200"/>
                </a:cubicBezTo>
                <a:cubicBezTo>
                  <a:pt x="139101" y="76200"/>
                  <a:pt x="147638" y="67664"/>
                  <a:pt x="147638" y="57150"/>
                </a:cubicBezTo>
                <a:close/>
                <a:moveTo>
                  <a:pt x="26194" y="92869"/>
                </a:moveTo>
                <a:cubicBezTo>
                  <a:pt x="30136" y="92869"/>
                  <a:pt x="33338" y="89668"/>
                  <a:pt x="33338" y="85725"/>
                </a:cubicBezTo>
                <a:cubicBezTo>
                  <a:pt x="33338" y="81782"/>
                  <a:pt x="30136" y="78581"/>
                  <a:pt x="26194" y="78581"/>
                </a:cubicBezTo>
                <a:cubicBezTo>
                  <a:pt x="22251" y="78581"/>
                  <a:pt x="19050" y="81782"/>
                  <a:pt x="19050" y="85725"/>
                </a:cubicBezTo>
                <a:cubicBezTo>
                  <a:pt x="19050" y="89668"/>
                  <a:pt x="22251" y="92869"/>
                  <a:pt x="26194" y="92869"/>
                </a:cubicBezTo>
                <a:close/>
                <a:moveTo>
                  <a:pt x="57150" y="85725"/>
                </a:moveTo>
                <a:cubicBezTo>
                  <a:pt x="57150" y="81782"/>
                  <a:pt x="53949" y="78581"/>
                  <a:pt x="50006" y="78581"/>
                </a:cubicBezTo>
                <a:cubicBezTo>
                  <a:pt x="46064" y="78581"/>
                  <a:pt x="42863" y="81782"/>
                  <a:pt x="42863" y="85725"/>
                </a:cubicBezTo>
                <a:cubicBezTo>
                  <a:pt x="42863" y="89668"/>
                  <a:pt x="46064" y="92869"/>
                  <a:pt x="50006" y="92869"/>
                </a:cubicBezTo>
                <a:cubicBezTo>
                  <a:pt x="53949" y="92869"/>
                  <a:pt x="57150" y="89668"/>
                  <a:pt x="57150" y="85725"/>
                </a:cubicBezTo>
                <a:close/>
                <a:moveTo>
                  <a:pt x="73819" y="92869"/>
                </a:moveTo>
                <a:cubicBezTo>
                  <a:pt x="77761" y="92869"/>
                  <a:pt x="80962" y="89668"/>
                  <a:pt x="80962" y="85725"/>
                </a:cubicBezTo>
                <a:cubicBezTo>
                  <a:pt x="80962" y="81782"/>
                  <a:pt x="77761" y="78581"/>
                  <a:pt x="73819" y="78581"/>
                </a:cubicBezTo>
                <a:cubicBezTo>
                  <a:pt x="69876" y="78581"/>
                  <a:pt x="66675" y="81782"/>
                  <a:pt x="66675" y="85725"/>
                </a:cubicBezTo>
                <a:cubicBezTo>
                  <a:pt x="66675" y="89668"/>
                  <a:pt x="69876" y="92869"/>
                  <a:pt x="73819" y="92869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1" name="Text 28"/>
          <p:cNvSpPr/>
          <p:nvPr/>
        </p:nvSpPr>
        <p:spPr>
          <a:xfrm>
            <a:off x="6675120" y="2636523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India Program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75120" y="2903223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initiative for digital empowerment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8420" y="32461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4" name="Text 31"/>
          <p:cNvSpPr/>
          <p:nvPr/>
        </p:nvSpPr>
        <p:spPr>
          <a:xfrm>
            <a:off x="6675120" y="3208023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SeeClickFix Platform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675120" y="3474723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civic issue reporting platform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89370" y="38176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45" y="9525"/>
                </a:moveTo>
                <a:lnTo>
                  <a:pt x="43964" y="9525"/>
                </a:lnTo>
                <a:cubicBezTo>
                  <a:pt x="35213" y="9525"/>
                  <a:pt x="27563" y="15508"/>
                  <a:pt x="25479" y="23991"/>
                </a:cubicBezTo>
                <a:lnTo>
                  <a:pt x="417" y="125164"/>
                </a:lnTo>
                <a:cubicBezTo>
                  <a:pt x="-1816" y="134154"/>
                  <a:pt x="5001" y="142875"/>
                  <a:pt x="14288" y="142875"/>
                </a:cubicBezTo>
                <a:lnTo>
                  <a:pt x="66645" y="142875"/>
                </a:lnTo>
                <a:lnTo>
                  <a:pt x="66645" y="123825"/>
                </a:lnTo>
                <a:cubicBezTo>
                  <a:pt x="66645" y="118556"/>
                  <a:pt x="70902" y="114300"/>
                  <a:pt x="76170" y="114300"/>
                </a:cubicBezTo>
                <a:cubicBezTo>
                  <a:pt x="81439" y="114300"/>
                  <a:pt x="85695" y="118556"/>
                  <a:pt x="85695" y="123825"/>
                </a:cubicBezTo>
                <a:lnTo>
                  <a:pt x="85695" y="142875"/>
                </a:lnTo>
                <a:lnTo>
                  <a:pt x="138113" y="142875"/>
                </a:lnTo>
                <a:cubicBezTo>
                  <a:pt x="147399" y="142875"/>
                  <a:pt x="154216" y="134154"/>
                  <a:pt x="151983" y="125164"/>
                </a:cubicBezTo>
                <a:lnTo>
                  <a:pt x="126950" y="23991"/>
                </a:lnTo>
                <a:cubicBezTo>
                  <a:pt x="124837" y="15508"/>
                  <a:pt x="117217" y="9525"/>
                  <a:pt x="108436" y="9525"/>
                </a:cubicBezTo>
                <a:lnTo>
                  <a:pt x="85695" y="9525"/>
                </a:lnTo>
                <a:lnTo>
                  <a:pt x="85695" y="28575"/>
                </a:lnTo>
                <a:cubicBezTo>
                  <a:pt x="85695" y="33844"/>
                  <a:pt x="81439" y="38100"/>
                  <a:pt x="76170" y="38100"/>
                </a:cubicBezTo>
                <a:cubicBezTo>
                  <a:pt x="70902" y="38100"/>
                  <a:pt x="66645" y="33844"/>
                  <a:pt x="66645" y="28575"/>
                </a:cubicBezTo>
                <a:lnTo>
                  <a:pt x="66645" y="9525"/>
                </a:lnTo>
                <a:close/>
                <a:moveTo>
                  <a:pt x="85695" y="66675"/>
                </a:moveTo>
                <a:lnTo>
                  <a:pt x="85695" y="85725"/>
                </a:lnTo>
                <a:cubicBezTo>
                  <a:pt x="85695" y="90994"/>
                  <a:pt x="81439" y="95250"/>
                  <a:pt x="76170" y="95250"/>
                </a:cubicBezTo>
                <a:cubicBezTo>
                  <a:pt x="70902" y="95250"/>
                  <a:pt x="66645" y="90994"/>
                  <a:pt x="66645" y="85725"/>
                </a:cubicBezTo>
                <a:lnTo>
                  <a:pt x="66645" y="66675"/>
                </a:lnTo>
                <a:cubicBezTo>
                  <a:pt x="66645" y="61406"/>
                  <a:pt x="70902" y="57150"/>
                  <a:pt x="76170" y="57150"/>
                </a:cubicBezTo>
                <a:cubicBezTo>
                  <a:pt x="81439" y="57150"/>
                  <a:pt x="85695" y="61406"/>
                  <a:pt x="85695" y="66675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37" name="Text 34"/>
          <p:cNvSpPr/>
          <p:nvPr/>
        </p:nvSpPr>
        <p:spPr>
          <a:xfrm>
            <a:off x="6675120" y="3779523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FixMyStreet (UK)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675120" y="4046223"/>
            <a:ext cx="2695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Pioneering civic reporting platform case study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84810" y="4712969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807717"/>
                </a:lnTo>
                <a:cubicBezTo>
                  <a:pt x="11418570" y="870845"/>
                  <a:pt x="11367395" y="922020"/>
                  <a:pt x="113042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 w="10160">
            <a:solidFill>
              <a:srgbClr val="F8F9FA">
                <a:alpha val="2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1261" y="503110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1" name="Text 38"/>
          <p:cNvSpPr/>
          <p:nvPr/>
        </p:nvSpPr>
        <p:spPr>
          <a:xfrm>
            <a:off x="1050608" y="4869182"/>
            <a:ext cx="1068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Areas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50608" y="5212082"/>
            <a:ext cx="1828800" cy="266700"/>
          </a:xfrm>
          <a:custGeom>
            <a:avLst/>
            <a:gdLst/>
            <a:ahLst/>
            <a:cxnLst/>
            <a:rect l="l" t="t" r="r" b="b"/>
            <a:pathLst>
              <a:path w="1828800" h="266700">
                <a:moveTo>
                  <a:pt x="133350" y="0"/>
                </a:moveTo>
                <a:lnTo>
                  <a:pt x="1695450" y="0"/>
                </a:lnTo>
                <a:cubicBezTo>
                  <a:pt x="1769048" y="0"/>
                  <a:pt x="1828800" y="59752"/>
                  <a:pt x="1828800" y="133350"/>
                </a:cubicBezTo>
                <a:lnTo>
                  <a:pt x="1828800" y="133350"/>
                </a:lnTo>
                <a:cubicBezTo>
                  <a:pt x="1828800" y="206948"/>
                  <a:pt x="1769048" y="266700"/>
                  <a:pt x="1695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3" name="Text 40"/>
          <p:cNvSpPr/>
          <p:nvPr/>
        </p:nvSpPr>
        <p:spPr>
          <a:xfrm>
            <a:off x="1050608" y="5212082"/>
            <a:ext cx="1895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Civic Engagement Platforms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2959775" y="5212082"/>
            <a:ext cx="1914525" cy="266700"/>
          </a:xfrm>
          <a:custGeom>
            <a:avLst/>
            <a:gdLst/>
            <a:ahLst/>
            <a:cxnLst/>
            <a:rect l="l" t="t" r="r" b="b"/>
            <a:pathLst>
              <a:path w="1914525" h="266700">
                <a:moveTo>
                  <a:pt x="133350" y="0"/>
                </a:moveTo>
                <a:lnTo>
                  <a:pt x="1781175" y="0"/>
                </a:lnTo>
                <a:cubicBezTo>
                  <a:pt x="1854773" y="0"/>
                  <a:pt x="1914525" y="59752"/>
                  <a:pt x="1914525" y="133350"/>
                </a:cubicBezTo>
                <a:lnTo>
                  <a:pt x="1914525" y="133350"/>
                </a:lnTo>
                <a:cubicBezTo>
                  <a:pt x="1914525" y="206948"/>
                  <a:pt x="1854773" y="266700"/>
                  <a:pt x="1781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5" name="Text 42"/>
          <p:cNvSpPr/>
          <p:nvPr/>
        </p:nvSpPr>
        <p:spPr>
          <a:xfrm>
            <a:off x="2959775" y="5212082"/>
            <a:ext cx="1981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Database Systems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950738" y="5212082"/>
            <a:ext cx="1619250" cy="266700"/>
          </a:xfrm>
          <a:custGeom>
            <a:avLst/>
            <a:gdLst/>
            <a:ahLst/>
            <a:cxnLst/>
            <a:rect l="l" t="t" r="r" b="b"/>
            <a:pathLst>
              <a:path w="1619250" h="266700">
                <a:moveTo>
                  <a:pt x="133350" y="0"/>
                </a:moveTo>
                <a:lnTo>
                  <a:pt x="1485900" y="0"/>
                </a:lnTo>
                <a:cubicBezTo>
                  <a:pt x="1559498" y="0"/>
                  <a:pt x="1619250" y="59752"/>
                  <a:pt x="1619250" y="133350"/>
                </a:cubicBezTo>
                <a:lnTo>
                  <a:pt x="1619250" y="133350"/>
                </a:lnTo>
                <a:cubicBezTo>
                  <a:pt x="1619250" y="206948"/>
                  <a:pt x="1559498" y="266700"/>
                  <a:pt x="14859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7" name="Text 44"/>
          <p:cNvSpPr/>
          <p:nvPr/>
        </p:nvSpPr>
        <p:spPr>
          <a:xfrm>
            <a:off x="4950738" y="5212082"/>
            <a:ext cx="1685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Digitization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644402" y="5212082"/>
            <a:ext cx="1438275" cy="266700"/>
          </a:xfrm>
          <a:custGeom>
            <a:avLst/>
            <a:gdLst/>
            <a:ahLst/>
            <a:cxnLst/>
            <a:rect l="l" t="t" r="r" b="b"/>
            <a:pathLst>
              <a:path w="1438275" h="266700">
                <a:moveTo>
                  <a:pt x="133350" y="0"/>
                </a:moveTo>
                <a:lnTo>
                  <a:pt x="1304925" y="0"/>
                </a:lnTo>
                <a:cubicBezTo>
                  <a:pt x="1378523" y="0"/>
                  <a:pt x="1438275" y="59752"/>
                  <a:pt x="1438275" y="133350"/>
                </a:cubicBezTo>
                <a:lnTo>
                  <a:pt x="1438275" y="133350"/>
                </a:lnTo>
                <a:cubicBezTo>
                  <a:pt x="1438275" y="206948"/>
                  <a:pt x="1378523" y="266700"/>
                  <a:pt x="1304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49" name="Text 46"/>
          <p:cNvSpPr/>
          <p:nvPr/>
        </p:nvSpPr>
        <p:spPr>
          <a:xfrm>
            <a:off x="6644402" y="5212082"/>
            <a:ext cx="1504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UX in Public Services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160306" y="5212082"/>
            <a:ext cx="1476375" cy="266700"/>
          </a:xfrm>
          <a:custGeom>
            <a:avLst/>
            <a:gdLst/>
            <a:ahLst/>
            <a:cxnLst/>
            <a:rect l="l" t="t" r="r" b="b"/>
            <a:pathLst>
              <a:path w="1476375" h="266700">
                <a:moveTo>
                  <a:pt x="133350" y="0"/>
                </a:moveTo>
                <a:lnTo>
                  <a:pt x="1343025" y="0"/>
                </a:lnTo>
                <a:cubicBezTo>
                  <a:pt x="1416623" y="0"/>
                  <a:pt x="1476375" y="59752"/>
                  <a:pt x="1476375" y="133350"/>
                </a:cubicBezTo>
                <a:lnTo>
                  <a:pt x="1476375" y="133350"/>
                </a:lnTo>
                <a:cubicBezTo>
                  <a:pt x="1476375" y="206948"/>
                  <a:pt x="1416623" y="266700"/>
                  <a:pt x="13430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1" name="Text 48"/>
          <p:cNvSpPr/>
          <p:nvPr/>
        </p:nvSpPr>
        <p:spPr>
          <a:xfrm>
            <a:off x="8160306" y="5212082"/>
            <a:ext cx="1543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Metrics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165997" y="5791200"/>
            <a:ext cx="3857625" cy="685800"/>
          </a:xfrm>
          <a:custGeom>
            <a:avLst/>
            <a:gdLst/>
            <a:ahLst/>
            <a:cxnLst/>
            <a:rect l="l" t="t" r="r" b="b"/>
            <a:pathLst>
              <a:path w="3857625" h="685800">
                <a:moveTo>
                  <a:pt x="342900" y="0"/>
                </a:moveTo>
                <a:lnTo>
                  <a:pt x="3514725" y="0"/>
                </a:lnTo>
                <a:cubicBezTo>
                  <a:pt x="3703977" y="0"/>
                  <a:pt x="3857625" y="153648"/>
                  <a:pt x="3857625" y="342900"/>
                </a:cubicBezTo>
                <a:lnTo>
                  <a:pt x="3857625" y="342900"/>
                </a:lnTo>
                <a:cubicBezTo>
                  <a:pt x="3857625" y="532152"/>
                  <a:pt x="3703977" y="685800"/>
                  <a:pt x="3514725" y="685800"/>
                </a:cubicBezTo>
                <a:lnTo>
                  <a:pt x="342900" y="685800"/>
                </a:lnTo>
                <a:cubicBezTo>
                  <a:pt x="153648" y="685800"/>
                  <a:pt x="0" y="532152"/>
                  <a:pt x="0" y="342900"/>
                </a:cubicBezTo>
                <a:lnTo>
                  <a:pt x="0" y="342900"/>
                </a:lnTo>
                <a:cubicBezTo>
                  <a:pt x="0" y="153648"/>
                  <a:pt x="153648" y="0"/>
                  <a:pt x="342900" y="0"/>
                </a:cubicBezTo>
                <a:close/>
              </a:path>
            </a:pathLst>
          </a:custGeom>
          <a:solidFill>
            <a:srgbClr val="F7B538"/>
          </a:solidFill>
          <a:ln/>
        </p:spPr>
      </p:sp>
      <p:sp>
        <p:nvSpPr>
          <p:cNvPr id="53" name="Shape 50"/>
          <p:cNvSpPr/>
          <p:nvPr/>
        </p:nvSpPr>
        <p:spPr>
          <a:xfrm>
            <a:off x="4499372" y="601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1A535C"/>
          </a:solidFill>
          <a:ln/>
        </p:spPr>
      </p:sp>
      <p:sp>
        <p:nvSpPr>
          <p:cNvPr id="54" name="Text 51"/>
          <p:cNvSpPr/>
          <p:nvPr/>
        </p:nvSpPr>
        <p:spPr>
          <a:xfrm>
            <a:off x="4908947" y="590550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 CONNECT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4908947" y="617220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535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Citizens • Transforming Governance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 CONNECT - Intelligence &amp; Accountability Engine</dc:title>
  <dc:subject>JAN CONNECT - Intelligence &amp; Accountability Engine</dc:subject>
  <dc:creator>Kimi</dc:creator>
  <cp:lastModifiedBy>Kimi</cp:lastModifiedBy>
  <cp:revision>1</cp:revision>
  <dcterms:created xsi:type="dcterms:W3CDTF">2026-02-20T12:13:12Z</dcterms:created>
  <dcterms:modified xsi:type="dcterms:W3CDTF">2026-02-20T12:13:12Z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{"Label":"JAN CONNECT - Intelligence &amp; Accountability Engine","ContentProducer":"001191110108MACG2KBH8F10000","ProduceID":"19c7af06-9ad2-858d-8000-0000f7bdba6e","ReservedCode1":"","ContentPropagator":"001191110108MACG2KBH8F20000","PropagateID":"19c7af06-9ad2-858d-8000-0000f7bdba6e","ReservedCode2":""}</vt:lpwstr>
  </property>
</Properties>
</file>